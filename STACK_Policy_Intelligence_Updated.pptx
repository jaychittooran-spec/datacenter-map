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ck_cover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38328" y="4197096"/>
            <a:ext cx="9372600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>
                <a:solidFill>
                  <a:srgbClr val="FFFFFF"/>
                </a:solidFill>
                <a:latin typeface="Aptos"/>
              </a:defRPr>
            </a:pPr>
            <a:r>
              <a:rPr/>
              <a:t>U.S. DATA CENTER POLICY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5596128"/>
            <a:ext cx="6035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15291"/>
                </a:solidFill>
                <a:latin typeface="Aptos"/>
              </a:defRPr>
            </a:pPr>
            <a:r>
              <a:rPr/>
              <a:t>OCTOBER 2026  |  50-STATE POLICY ASSESSMENT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Current state policy environment; trend and forward risk assessed separately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0200"/>
            <a:ext cx="2624328" cy="1417320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810512"/>
            <a:ext cx="210312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100" b="1">
                <a:solidFill>
                  <a:srgbClr val="173B73"/>
                </a:solidFill>
                <a:latin typeface="Aptos ExtraBold"/>
              </a:defRPr>
            </a:pPr>
            <a:r>
              <a:rPr/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514600"/>
            <a:ext cx="22860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526F8F"/>
                </a:solidFill>
                <a:latin typeface="Aptos"/>
              </a:defRPr>
            </a:pPr>
            <a:r>
              <a:rPr/>
              <a:t>STATES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1600200"/>
            <a:ext cx="2624328" cy="1417320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1810512"/>
            <a:ext cx="210312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100" b="1">
                <a:solidFill>
                  <a:srgbClr val="173B73"/>
                </a:solidFill>
                <a:latin typeface="Aptos ExtraBold"/>
              </a:defRPr>
            </a:pPr>
            <a:r>
              <a:rPr/>
              <a:t>58.1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514600"/>
            <a:ext cx="22860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526F8F"/>
                </a:solidFill>
                <a:latin typeface="Aptos"/>
              </a:defRPr>
            </a:pPr>
            <a:r>
              <a:rPr/>
              <a:t>AVERAGE SCORE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600200"/>
            <a:ext cx="2624328" cy="1417320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810512"/>
            <a:ext cx="210312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100" b="1">
                <a:solidFill>
                  <a:srgbClr val="173B73"/>
                </a:solidFill>
                <a:latin typeface="Aptos ExtraBold"/>
              </a:defRPr>
            </a:pPr>
            <a:r>
              <a:rPr/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514600"/>
            <a:ext cx="22860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526F8F"/>
                </a:solidFill>
                <a:latin typeface="Aptos"/>
              </a:defRPr>
            </a:pPr>
            <a:r>
              <a:rPr/>
              <a:t>FAVORABLE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59" y="1600200"/>
            <a:ext cx="2624328" cy="1417320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39" y="1810512"/>
            <a:ext cx="210312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100" b="1">
                <a:solidFill>
                  <a:srgbClr val="173B73"/>
                </a:solidFill>
                <a:latin typeface="Aptos ExtraBold"/>
              </a:defRPr>
            </a:pPr>
            <a:r>
              <a:rPr/>
              <a:t>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39" y="2514600"/>
            <a:ext cx="22860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526F8F"/>
                </a:solidFill>
                <a:latin typeface="Aptos"/>
              </a:defRPr>
            </a:pPr>
            <a:r>
              <a:rPr/>
              <a:t>HIGH FORWARD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703320"/>
            <a:ext cx="10789920" cy="10515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800" b="0">
                <a:solidFill>
                  <a:srgbClr val="173B73"/>
                </a:solidFill>
                <a:latin typeface="Aptos"/>
              </a:defRPr>
            </a:pPr>
            <a:r>
              <a:rPr/>
              <a:t>Scores reflect a weighted four-dimension framework. Power and community acceptance remain central to development feasibility.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t>50-STATE POLICY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t>States grouped by current policy environment | score shown on a 100-point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" y="1307592"/>
            <a:ext cx="2779776" cy="4983480"/>
          </a:xfrm>
          <a:prstGeom prst="roundRect">
            <a:avLst/>
          </a:prstGeom>
          <a:solidFill>
            <a:srgbClr val="FAFBFC"/>
          </a:solidFill>
          <a:ln w="22860">
            <a:solidFill>
              <a:srgbClr val="3181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435607"/>
            <a:ext cx="246888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400" b="1">
                <a:solidFill>
                  <a:srgbClr val="318159"/>
                </a:solidFill>
                <a:latin typeface="Aptos Display"/>
              </a:defRPr>
            </a:pPr>
            <a:r>
              <a:t>FAVORABLE  (4)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38144" y="1307592"/>
            <a:ext cx="2779776" cy="4983480"/>
          </a:xfrm>
          <a:prstGeom prst="roundRect">
            <a:avLst/>
          </a:prstGeom>
          <a:solidFill>
            <a:srgbClr val="FAFBFC"/>
          </a:solidFill>
          <a:ln w="22860">
            <a:solidFill>
              <a:srgbClr val="B68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3592" y="1435607"/>
            <a:ext cx="246888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400" b="1">
                <a:solidFill>
                  <a:srgbClr val="B68F2B"/>
                </a:solidFill>
                <a:latin typeface="Aptos Display"/>
              </a:defRPr>
            </a:pPr>
            <a:r>
              <a:t>MODERATE  (17)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382512" y="1307592"/>
            <a:ext cx="2779776" cy="4983480"/>
          </a:xfrm>
          <a:prstGeom prst="roundRect">
            <a:avLst/>
          </a:prstGeom>
          <a:solidFill>
            <a:srgbClr val="FAFBFC"/>
          </a:solidFill>
          <a:ln w="22860">
            <a:solidFill>
              <a:srgbClr val="C374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37960" y="1435607"/>
            <a:ext cx="246888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400" b="1">
                <a:solidFill>
                  <a:srgbClr val="C37434"/>
                </a:solidFill>
                <a:latin typeface="Aptos Display"/>
              </a:defRPr>
            </a:pPr>
            <a:r>
              <a:t>CHALLENGING  (24)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9326880" y="1307592"/>
            <a:ext cx="2779776" cy="4983480"/>
          </a:xfrm>
          <a:prstGeom prst="roundRect">
            <a:avLst/>
          </a:prstGeom>
          <a:solidFill>
            <a:srgbClr val="FAFBFC"/>
          </a:solidFill>
          <a:ln w="22860">
            <a:solidFill>
              <a:srgbClr val="A04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482328" y="1435607"/>
            <a:ext cx="246888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400" b="1">
                <a:solidFill>
                  <a:srgbClr val="A04B4E"/>
                </a:solidFill>
                <a:latin typeface="Aptos Display"/>
              </a:defRPr>
            </a:pPr>
            <a:r>
              <a:t>RESTRICTIVE  (5)</a:t>
            </a:r>
          </a:p>
        </p:txBody>
      </p:sp>
      <p:sp>
        <p:nvSpPr>
          <p:cNvPr id="109" name="TextBox 10"/>
          <p:cNvSpPr txBox="1"/>
          <p:nvPr/>
        </p:nvSpPr>
        <p:spPr>
          <a:xfrm>
            <a:off x="630936" y="189280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Wyoming</a:t>
            </a:r>
          </a:p>
        </p:txBody>
      </p:sp>
      <p:sp>
        <p:nvSpPr>
          <p:cNvPr id="110" name="TextBox 11"/>
          <p:cNvSpPr txBox="1"/>
          <p:nvPr/>
        </p:nvSpPr>
        <p:spPr>
          <a:xfrm>
            <a:off x="2633472" y="189280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88.5</a:t>
            </a:r>
          </a:p>
        </p:txBody>
      </p:sp>
      <p:sp>
        <p:nvSpPr>
          <p:cNvPr id="111" name="TextBox 10"/>
          <p:cNvSpPr txBox="1"/>
          <p:nvPr/>
        </p:nvSpPr>
        <p:spPr>
          <a:xfrm>
            <a:off x="630936" y="206928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Louisiana</a:t>
            </a:r>
          </a:p>
        </p:txBody>
      </p:sp>
      <p:sp>
        <p:nvSpPr>
          <p:cNvPr id="112" name="TextBox 11"/>
          <p:cNvSpPr txBox="1"/>
          <p:nvPr/>
        </p:nvSpPr>
        <p:spPr>
          <a:xfrm>
            <a:off x="2633472" y="206928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87.5</a:t>
            </a:r>
          </a:p>
        </p:txBody>
      </p:sp>
      <p:sp>
        <p:nvSpPr>
          <p:cNvPr id="113" name="TextBox 10"/>
          <p:cNvSpPr txBox="1"/>
          <p:nvPr/>
        </p:nvSpPr>
        <p:spPr>
          <a:xfrm>
            <a:off x="630936" y="224576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North Dakota</a:t>
            </a:r>
          </a:p>
        </p:txBody>
      </p:sp>
      <p:sp>
        <p:nvSpPr>
          <p:cNvPr id="114" name="TextBox 11"/>
          <p:cNvSpPr txBox="1"/>
          <p:nvPr/>
        </p:nvSpPr>
        <p:spPr>
          <a:xfrm>
            <a:off x="2633472" y="224576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82.5</a:t>
            </a:r>
          </a:p>
        </p:txBody>
      </p:sp>
      <p:sp>
        <p:nvSpPr>
          <p:cNvPr id="115" name="TextBox 10"/>
          <p:cNvSpPr txBox="1"/>
          <p:nvPr/>
        </p:nvSpPr>
        <p:spPr>
          <a:xfrm>
            <a:off x="630936" y="2422245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West Virginia</a:t>
            </a:r>
          </a:p>
        </p:txBody>
      </p:sp>
      <p:sp>
        <p:nvSpPr>
          <p:cNvPr id="116" name="TextBox 11"/>
          <p:cNvSpPr txBox="1"/>
          <p:nvPr/>
        </p:nvSpPr>
        <p:spPr>
          <a:xfrm>
            <a:off x="2633472" y="2422245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82.5</a:t>
            </a:r>
          </a:p>
        </p:txBody>
      </p:sp>
      <p:sp>
        <p:nvSpPr>
          <p:cNvPr id="117" name="TextBox 20"/>
          <p:cNvSpPr txBox="1"/>
          <p:nvPr/>
        </p:nvSpPr>
        <p:spPr>
          <a:xfrm>
            <a:off x="3575304" y="189280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Arkansas</a:t>
            </a:r>
          </a:p>
        </p:txBody>
      </p:sp>
      <p:sp>
        <p:nvSpPr>
          <p:cNvPr id="118" name="TextBox 21"/>
          <p:cNvSpPr txBox="1"/>
          <p:nvPr/>
        </p:nvSpPr>
        <p:spPr>
          <a:xfrm>
            <a:off x="5577840" y="189280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76.5</a:t>
            </a:r>
          </a:p>
        </p:txBody>
      </p:sp>
      <p:sp>
        <p:nvSpPr>
          <p:cNvPr id="119" name="TextBox 20"/>
          <p:cNvSpPr txBox="1"/>
          <p:nvPr/>
        </p:nvSpPr>
        <p:spPr>
          <a:xfrm>
            <a:off x="3575304" y="206928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Mississippi</a:t>
            </a:r>
          </a:p>
        </p:txBody>
      </p:sp>
      <p:sp>
        <p:nvSpPr>
          <p:cNvPr id="120" name="TextBox 21"/>
          <p:cNvSpPr txBox="1"/>
          <p:nvPr/>
        </p:nvSpPr>
        <p:spPr>
          <a:xfrm>
            <a:off x="5577840" y="206928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76.5</a:t>
            </a:r>
          </a:p>
        </p:txBody>
      </p:sp>
      <p:sp>
        <p:nvSpPr>
          <p:cNvPr id="121" name="TextBox 20"/>
          <p:cNvSpPr txBox="1"/>
          <p:nvPr/>
        </p:nvSpPr>
        <p:spPr>
          <a:xfrm>
            <a:off x="3575304" y="224576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Montana</a:t>
            </a:r>
          </a:p>
        </p:txBody>
      </p:sp>
      <p:sp>
        <p:nvSpPr>
          <p:cNvPr id="122" name="TextBox 21"/>
          <p:cNvSpPr txBox="1"/>
          <p:nvPr/>
        </p:nvSpPr>
        <p:spPr>
          <a:xfrm>
            <a:off x="5577840" y="224576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75.0</a:t>
            </a:r>
          </a:p>
        </p:txBody>
      </p:sp>
      <p:sp>
        <p:nvSpPr>
          <p:cNvPr id="123" name="TextBox 20"/>
          <p:cNvSpPr txBox="1"/>
          <p:nvPr/>
        </p:nvSpPr>
        <p:spPr>
          <a:xfrm>
            <a:off x="3575304" y="2422245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Idaho</a:t>
            </a:r>
          </a:p>
        </p:txBody>
      </p:sp>
      <p:sp>
        <p:nvSpPr>
          <p:cNvPr id="124" name="TextBox 21"/>
          <p:cNvSpPr txBox="1"/>
          <p:nvPr/>
        </p:nvSpPr>
        <p:spPr>
          <a:xfrm>
            <a:off x="5577840" y="2422245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74.5</a:t>
            </a:r>
          </a:p>
        </p:txBody>
      </p:sp>
      <p:sp>
        <p:nvSpPr>
          <p:cNvPr id="125" name="TextBox 20"/>
          <p:cNvSpPr txBox="1"/>
          <p:nvPr/>
        </p:nvSpPr>
        <p:spPr>
          <a:xfrm>
            <a:off x="3575304" y="2598724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South Carolina</a:t>
            </a:r>
          </a:p>
        </p:txBody>
      </p:sp>
      <p:sp>
        <p:nvSpPr>
          <p:cNvPr id="126" name="TextBox 21"/>
          <p:cNvSpPr txBox="1"/>
          <p:nvPr/>
        </p:nvSpPr>
        <p:spPr>
          <a:xfrm>
            <a:off x="5577840" y="2598724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71.5</a:t>
            </a:r>
          </a:p>
        </p:txBody>
      </p:sp>
      <p:sp>
        <p:nvSpPr>
          <p:cNvPr id="127" name="TextBox 20"/>
          <p:cNvSpPr txBox="1"/>
          <p:nvPr/>
        </p:nvSpPr>
        <p:spPr>
          <a:xfrm>
            <a:off x="3575304" y="2775204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Kansas</a:t>
            </a:r>
          </a:p>
        </p:txBody>
      </p:sp>
      <p:sp>
        <p:nvSpPr>
          <p:cNvPr id="128" name="TextBox 21"/>
          <p:cNvSpPr txBox="1"/>
          <p:nvPr/>
        </p:nvSpPr>
        <p:spPr>
          <a:xfrm>
            <a:off x="5577840" y="2775204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69.0</a:t>
            </a:r>
          </a:p>
        </p:txBody>
      </p:sp>
      <p:sp>
        <p:nvSpPr>
          <p:cNvPr id="129" name="TextBox 20"/>
          <p:cNvSpPr txBox="1"/>
          <p:nvPr/>
        </p:nvSpPr>
        <p:spPr>
          <a:xfrm>
            <a:off x="3575304" y="2951683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New Hampshire</a:t>
            </a:r>
          </a:p>
        </p:txBody>
      </p:sp>
      <p:sp>
        <p:nvSpPr>
          <p:cNvPr id="130" name="TextBox 21"/>
          <p:cNvSpPr txBox="1"/>
          <p:nvPr/>
        </p:nvSpPr>
        <p:spPr>
          <a:xfrm>
            <a:off x="5577840" y="2951683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69.0</a:t>
            </a:r>
          </a:p>
        </p:txBody>
      </p:sp>
      <p:sp>
        <p:nvSpPr>
          <p:cNvPr id="131" name="TextBox 20"/>
          <p:cNvSpPr txBox="1"/>
          <p:nvPr/>
        </p:nvSpPr>
        <p:spPr>
          <a:xfrm>
            <a:off x="3575304" y="3128162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Utah</a:t>
            </a:r>
          </a:p>
        </p:txBody>
      </p:sp>
      <p:sp>
        <p:nvSpPr>
          <p:cNvPr id="132" name="TextBox 21"/>
          <p:cNvSpPr txBox="1"/>
          <p:nvPr/>
        </p:nvSpPr>
        <p:spPr>
          <a:xfrm>
            <a:off x="5577840" y="3128162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68.0</a:t>
            </a:r>
          </a:p>
        </p:txBody>
      </p:sp>
      <p:sp>
        <p:nvSpPr>
          <p:cNvPr id="133" name="TextBox 20"/>
          <p:cNvSpPr txBox="1"/>
          <p:nvPr/>
        </p:nvSpPr>
        <p:spPr>
          <a:xfrm>
            <a:off x="3575304" y="3304641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New Mexico</a:t>
            </a:r>
          </a:p>
        </p:txBody>
      </p:sp>
      <p:sp>
        <p:nvSpPr>
          <p:cNvPr id="134" name="TextBox 21"/>
          <p:cNvSpPr txBox="1"/>
          <p:nvPr/>
        </p:nvSpPr>
        <p:spPr>
          <a:xfrm>
            <a:off x="5577840" y="3304641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67.0</a:t>
            </a:r>
          </a:p>
        </p:txBody>
      </p:sp>
      <p:sp>
        <p:nvSpPr>
          <p:cNvPr id="135" name="TextBox 20"/>
          <p:cNvSpPr txBox="1"/>
          <p:nvPr/>
        </p:nvSpPr>
        <p:spPr>
          <a:xfrm>
            <a:off x="3575304" y="3481120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Iowa</a:t>
            </a:r>
          </a:p>
        </p:txBody>
      </p:sp>
      <p:sp>
        <p:nvSpPr>
          <p:cNvPr id="136" name="TextBox 21"/>
          <p:cNvSpPr txBox="1"/>
          <p:nvPr/>
        </p:nvSpPr>
        <p:spPr>
          <a:xfrm>
            <a:off x="5577840" y="3481120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66.5</a:t>
            </a:r>
          </a:p>
        </p:txBody>
      </p:sp>
      <p:sp>
        <p:nvSpPr>
          <p:cNvPr id="137" name="TextBox 20"/>
          <p:cNvSpPr txBox="1"/>
          <p:nvPr/>
        </p:nvSpPr>
        <p:spPr>
          <a:xfrm>
            <a:off x="3575304" y="3657600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Missouri</a:t>
            </a:r>
          </a:p>
        </p:txBody>
      </p:sp>
      <p:sp>
        <p:nvSpPr>
          <p:cNvPr id="138" name="TextBox 21"/>
          <p:cNvSpPr txBox="1"/>
          <p:nvPr/>
        </p:nvSpPr>
        <p:spPr>
          <a:xfrm>
            <a:off x="5577840" y="3657600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66.5</a:t>
            </a:r>
          </a:p>
        </p:txBody>
      </p:sp>
      <p:sp>
        <p:nvSpPr>
          <p:cNvPr id="139" name="TextBox 20"/>
          <p:cNvSpPr txBox="1"/>
          <p:nvPr/>
        </p:nvSpPr>
        <p:spPr>
          <a:xfrm>
            <a:off x="3575304" y="3834079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Texas</a:t>
            </a:r>
          </a:p>
        </p:txBody>
      </p:sp>
      <p:sp>
        <p:nvSpPr>
          <p:cNvPr id="140" name="TextBox 21"/>
          <p:cNvSpPr txBox="1"/>
          <p:nvPr/>
        </p:nvSpPr>
        <p:spPr>
          <a:xfrm>
            <a:off x="5577840" y="3834079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66.5</a:t>
            </a:r>
          </a:p>
        </p:txBody>
      </p:sp>
      <p:sp>
        <p:nvSpPr>
          <p:cNvPr id="141" name="TextBox 20"/>
          <p:cNvSpPr txBox="1"/>
          <p:nvPr/>
        </p:nvSpPr>
        <p:spPr>
          <a:xfrm>
            <a:off x="3575304" y="4010558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Vermont</a:t>
            </a:r>
          </a:p>
        </p:txBody>
      </p:sp>
      <p:sp>
        <p:nvSpPr>
          <p:cNvPr id="142" name="TextBox 21"/>
          <p:cNvSpPr txBox="1"/>
          <p:nvPr/>
        </p:nvSpPr>
        <p:spPr>
          <a:xfrm>
            <a:off x="5577840" y="4010558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66.5</a:t>
            </a:r>
          </a:p>
        </p:txBody>
      </p:sp>
      <p:sp>
        <p:nvSpPr>
          <p:cNvPr id="143" name="TextBox 20"/>
          <p:cNvSpPr txBox="1"/>
          <p:nvPr/>
        </p:nvSpPr>
        <p:spPr>
          <a:xfrm>
            <a:off x="3575304" y="418703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Rhode Island</a:t>
            </a:r>
          </a:p>
        </p:txBody>
      </p:sp>
      <p:sp>
        <p:nvSpPr>
          <p:cNvPr id="144" name="TextBox 21"/>
          <p:cNvSpPr txBox="1"/>
          <p:nvPr/>
        </p:nvSpPr>
        <p:spPr>
          <a:xfrm>
            <a:off x="5577840" y="418703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64.0</a:t>
            </a:r>
          </a:p>
        </p:txBody>
      </p:sp>
      <p:sp>
        <p:nvSpPr>
          <p:cNvPr id="145" name="TextBox 20"/>
          <p:cNvSpPr txBox="1"/>
          <p:nvPr/>
        </p:nvSpPr>
        <p:spPr>
          <a:xfrm>
            <a:off x="3575304" y="436351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Michigan</a:t>
            </a:r>
          </a:p>
        </p:txBody>
      </p:sp>
      <p:sp>
        <p:nvSpPr>
          <p:cNvPr id="146" name="TextBox 21"/>
          <p:cNvSpPr txBox="1"/>
          <p:nvPr/>
        </p:nvSpPr>
        <p:spPr>
          <a:xfrm>
            <a:off x="5577840" y="436351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60.0</a:t>
            </a:r>
          </a:p>
        </p:txBody>
      </p:sp>
      <p:sp>
        <p:nvSpPr>
          <p:cNvPr id="147" name="TextBox 20"/>
          <p:cNvSpPr txBox="1"/>
          <p:nvPr/>
        </p:nvSpPr>
        <p:spPr>
          <a:xfrm>
            <a:off x="3575304" y="453999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Nevada</a:t>
            </a:r>
          </a:p>
        </p:txBody>
      </p:sp>
      <p:sp>
        <p:nvSpPr>
          <p:cNvPr id="148" name="TextBox 21"/>
          <p:cNvSpPr txBox="1"/>
          <p:nvPr/>
        </p:nvSpPr>
        <p:spPr>
          <a:xfrm>
            <a:off x="5577840" y="453999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60.0</a:t>
            </a:r>
          </a:p>
        </p:txBody>
      </p:sp>
      <p:sp>
        <p:nvSpPr>
          <p:cNvPr id="149" name="TextBox 20"/>
          <p:cNvSpPr txBox="1"/>
          <p:nvPr/>
        </p:nvSpPr>
        <p:spPr>
          <a:xfrm>
            <a:off x="3575304" y="4716475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Tennessee</a:t>
            </a:r>
          </a:p>
        </p:txBody>
      </p:sp>
      <p:sp>
        <p:nvSpPr>
          <p:cNvPr id="150" name="TextBox 21"/>
          <p:cNvSpPr txBox="1"/>
          <p:nvPr/>
        </p:nvSpPr>
        <p:spPr>
          <a:xfrm>
            <a:off x="5577840" y="4716475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60.0</a:t>
            </a:r>
          </a:p>
        </p:txBody>
      </p:sp>
      <p:sp>
        <p:nvSpPr>
          <p:cNvPr id="151" name="TextBox 58"/>
          <p:cNvSpPr txBox="1"/>
          <p:nvPr/>
        </p:nvSpPr>
        <p:spPr>
          <a:xfrm>
            <a:off x="6519672" y="189280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Alaska</a:t>
            </a:r>
          </a:p>
        </p:txBody>
      </p:sp>
      <p:sp>
        <p:nvSpPr>
          <p:cNvPr id="152" name="TextBox 59"/>
          <p:cNvSpPr txBox="1"/>
          <p:nvPr/>
        </p:nvSpPr>
        <p:spPr>
          <a:xfrm>
            <a:off x="8522208" y="189280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58.5</a:t>
            </a:r>
          </a:p>
        </p:txBody>
      </p:sp>
      <p:sp>
        <p:nvSpPr>
          <p:cNvPr id="153" name="TextBox 58"/>
          <p:cNvSpPr txBox="1"/>
          <p:nvPr/>
        </p:nvSpPr>
        <p:spPr>
          <a:xfrm>
            <a:off x="6519672" y="206928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Florida</a:t>
            </a:r>
          </a:p>
        </p:txBody>
      </p:sp>
      <p:sp>
        <p:nvSpPr>
          <p:cNvPr id="154" name="TextBox 59"/>
          <p:cNvSpPr txBox="1"/>
          <p:nvPr/>
        </p:nvSpPr>
        <p:spPr>
          <a:xfrm>
            <a:off x="8522208" y="206928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58.5</a:t>
            </a:r>
          </a:p>
        </p:txBody>
      </p:sp>
      <p:sp>
        <p:nvSpPr>
          <p:cNvPr id="155" name="TextBox 58"/>
          <p:cNvSpPr txBox="1"/>
          <p:nvPr/>
        </p:nvSpPr>
        <p:spPr>
          <a:xfrm>
            <a:off x="6519672" y="224576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Connecticut</a:t>
            </a:r>
          </a:p>
        </p:txBody>
      </p:sp>
      <p:sp>
        <p:nvSpPr>
          <p:cNvPr id="156" name="TextBox 59"/>
          <p:cNvSpPr txBox="1"/>
          <p:nvPr/>
        </p:nvSpPr>
        <p:spPr>
          <a:xfrm>
            <a:off x="8522208" y="224576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57.5</a:t>
            </a:r>
          </a:p>
        </p:txBody>
      </p:sp>
      <p:sp>
        <p:nvSpPr>
          <p:cNvPr id="157" name="TextBox 58"/>
          <p:cNvSpPr txBox="1"/>
          <p:nvPr/>
        </p:nvSpPr>
        <p:spPr>
          <a:xfrm>
            <a:off x="6519672" y="2422245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Indiana</a:t>
            </a:r>
          </a:p>
        </p:txBody>
      </p:sp>
      <p:sp>
        <p:nvSpPr>
          <p:cNvPr id="158" name="TextBox 59"/>
          <p:cNvSpPr txBox="1"/>
          <p:nvPr/>
        </p:nvSpPr>
        <p:spPr>
          <a:xfrm>
            <a:off x="8522208" y="2422245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57.0</a:t>
            </a:r>
          </a:p>
        </p:txBody>
      </p:sp>
      <p:sp>
        <p:nvSpPr>
          <p:cNvPr id="159" name="TextBox 58"/>
          <p:cNvSpPr txBox="1"/>
          <p:nvPr/>
        </p:nvSpPr>
        <p:spPr>
          <a:xfrm>
            <a:off x="6519672" y="2598724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Oklahoma</a:t>
            </a:r>
          </a:p>
        </p:txBody>
      </p:sp>
      <p:sp>
        <p:nvSpPr>
          <p:cNvPr id="160" name="TextBox 59"/>
          <p:cNvSpPr txBox="1"/>
          <p:nvPr/>
        </p:nvSpPr>
        <p:spPr>
          <a:xfrm>
            <a:off x="8522208" y="2598724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56.0</a:t>
            </a:r>
          </a:p>
        </p:txBody>
      </p:sp>
      <p:sp>
        <p:nvSpPr>
          <p:cNvPr id="161" name="TextBox 58"/>
          <p:cNvSpPr txBox="1"/>
          <p:nvPr/>
        </p:nvSpPr>
        <p:spPr>
          <a:xfrm>
            <a:off x="6519672" y="2775204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South Dakota</a:t>
            </a:r>
          </a:p>
        </p:txBody>
      </p:sp>
      <p:sp>
        <p:nvSpPr>
          <p:cNvPr id="162" name="TextBox 59"/>
          <p:cNvSpPr txBox="1"/>
          <p:nvPr/>
        </p:nvSpPr>
        <p:spPr>
          <a:xfrm>
            <a:off x="8522208" y="2775204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56.0</a:t>
            </a:r>
          </a:p>
        </p:txBody>
      </p:sp>
      <p:sp>
        <p:nvSpPr>
          <p:cNvPr id="163" name="TextBox 58"/>
          <p:cNvSpPr txBox="1"/>
          <p:nvPr/>
        </p:nvSpPr>
        <p:spPr>
          <a:xfrm>
            <a:off x="6519672" y="2951683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Minnesota</a:t>
            </a:r>
          </a:p>
        </p:txBody>
      </p:sp>
      <p:sp>
        <p:nvSpPr>
          <p:cNvPr id="164" name="TextBox 59"/>
          <p:cNvSpPr txBox="1"/>
          <p:nvPr/>
        </p:nvSpPr>
        <p:spPr>
          <a:xfrm>
            <a:off x="8522208" y="2951683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55.0</a:t>
            </a:r>
          </a:p>
        </p:txBody>
      </p:sp>
      <p:sp>
        <p:nvSpPr>
          <p:cNvPr id="165" name="TextBox 58"/>
          <p:cNvSpPr txBox="1"/>
          <p:nvPr/>
        </p:nvSpPr>
        <p:spPr>
          <a:xfrm>
            <a:off x="6519672" y="3128162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Nebraska</a:t>
            </a:r>
          </a:p>
        </p:txBody>
      </p:sp>
      <p:sp>
        <p:nvSpPr>
          <p:cNvPr id="166" name="TextBox 59"/>
          <p:cNvSpPr txBox="1"/>
          <p:nvPr/>
        </p:nvSpPr>
        <p:spPr>
          <a:xfrm>
            <a:off x="8522208" y="3128162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55.0</a:t>
            </a:r>
          </a:p>
        </p:txBody>
      </p:sp>
      <p:sp>
        <p:nvSpPr>
          <p:cNvPr id="167" name="TextBox 58"/>
          <p:cNvSpPr txBox="1"/>
          <p:nvPr/>
        </p:nvSpPr>
        <p:spPr>
          <a:xfrm>
            <a:off x="6519672" y="3304641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Delaware</a:t>
            </a:r>
          </a:p>
        </p:txBody>
      </p:sp>
      <p:sp>
        <p:nvSpPr>
          <p:cNvPr id="168" name="TextBox 59"/>
          <p:cNvSpPr txBox="1"/>
          <p:nvPr/>
        </p:nvSpPr>
        <p:spPr>
          <a:xfrm>
            <a:off x="8522208" y="3304641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54.5</a:t>
            </a:r>
          </a:p>
        </p:txBody>
      </p:sp>
      <p:sp>
        <p:nvSpPr>
          <p:cNvPr id="169" name="TextBox 58"/>
          <p:cNvSpPr txBox="1"/>
          <p:nvPr/>
        </p:nvSpPr>
        <p:spPr>
          <a:xfrm>
            <a:off x="6519672" y="3481120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Georgia</a:t>
            </a:r>
          </a:p>
        </p:txBody>
      </p:sp>
      <p:sp>
        <p:nvSpPr>
          <p:cNvPr id="170" name="TextBox 59"/>
          <p:cNvSpPr txBox="1"/>
          <p:nvPr/>
        </p:nvSpPr>
        <p:spPr>
          <a:xfrm>
            <a:off x="8522208" y="3481120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54.0</a:t>
            </a:r>
          </a:p>
        </p:txBody>
      </p:sp>
      <p:sp>
        <p:nvSpPr>
          <p:cNvPr id="171" name="TextBox 58"/>
          <p:cNvSpPr txBox="1"/>
          <p:nvPr/>
        </p:nvSpPr>
        <p:spPr>
          <a:xfrm>
            <a:off x="6519672" y="3657600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Wisconsin</a:t>
            </a:r>
          </a:p>
        </p:txBody>
      </p:sp>
      <p:sp>
        <p:nvSpPr>
          <p:cNvPr id="172" name="TextBox 59"/>
          <p:cNvSpPr txBox="1"/>
          <p:nvPr/>
        </p:nvSpPr>
        <p:spPr>
          <a:xfrm>
            <a:off x="8522208" y="3657600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53.5</a:t>
            </a:r>
          </a:p>
        </p:txBody>
      </p:sp>
      <p:sp>
        <p:nvSpPr>
          <p:cNvPr id="173" name="TextBox 58"/>
          <p:cNvSpPr txBox="1"/>
          <p:nvPr/>
        </p:nvSpPr>
        <p:spPr>
          <a:xfrm>
            <a:off x="6519672" y="3834079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Ohio</a:t>
            </a:r>
          </a:p>
        </p:txBody>
      </p:sp>
      <p:sp>
        <p:nvSpPr>
          <p:cNvPr id="174" name="TextBox 59"/>
          <p:cNvSpPr txBox="1"/>
          <p:nvPr/>
        </p:nvSpPr>
        <p:spPr>
          <a:xfrm>
            <a:off x="8522208" y="3834079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53.0</a:t>
            </a:r>
          </a:p>
        </p:txBody>
      </p:sp>
      <p:sp>
        <p:nvSpPr>
          <p:cNvPr id="175" name="TextBox 58"/>
          <p:cNvSpPr txBox="1"/>
          <p:nvPr/>
        </p:nvSpPr>
        <p:spPr>
          <a:xfrm>
            <a:off x="6519672" y="4010558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Virginia</a:t>
            </a:r>
          </a:p>
        </p:txBody>
      </p:sp>
      <p:sp>
        <p:nvSpPr>
          <p:cNvPr id="176" name="TextBox 59"/>
          <p:cNvSpPr txBox="1"/>
          <p:nvPr/>
        </p:nvSpPr>
        <p:spPr>
          <a:xfrm>
            <a:off x="8522208" y="4010558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51.5</a:t>
            </a:r>
          </a:p>
        </p:txBody>
      </p:sp>
      <p:sp>
        <p:nvSpPr>
          <p:cNvPr id="177" name="TextBox 58"/>
          <p:cNvSpPr txBox="1"/>
          <p:nvPr/>
        </p:nvSpPr>
        <p:spPr>
          <a:xfrm>
            <a:off x="6519672" y="418703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Hawaii</a:t>
            </a:r>
          </a:p>
        </p:txBody>
      </p:sp>
      <p:sp>
        <p:nvSpPr>
          <p:cNvPr id="178" name="TextBox 59"/>
          <p:cNvSpPr txBox="1"/>
          <p:nvPr/>
        </p:nvSpPr>
        <p:spPr>
          <a:xfrm>
            <a:off x="8522208" y="418703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50.0</a:t>
            </a:r>
          </a:p>
        </p:txBody>
      </p:sp>
      <p:sp>
        <p:nvSpPr>
          <p:cNvPr id="179" name="TextBox 58"/>
          <p:cNvSpPr txBox="1"/>
          <p:nvPr/>
        </p:nvSpPr>
        <p:spPr>
          <a:xfrm>
            <a:off x="6519672" y="436351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Maine</a:t>
            </a:r>
          </a:p>
        </p:txBody>
      </p:sp>
      <p:sp>
        <p:nvSpPr>
          <p:cNvPr id="180" name="TextBox 59"/>
          <p:cNvSpPr txBox="1"/>
          <p:nvPr/>
        </p:nvSpPr>
        <p:spPr>
          <a:xfrm>
            <a:off x="8522208" y="436351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50.0</a:t>
            </a:r>
          </a:p>
        </p:txBody>
      </p:sp>
      <p:sp>
        <p:nvSpPr>
          <p:cNvPr id="181" name="TextBox 58"/>
          <p:cNvSpPr txBox="1"/>
          <p:nvPr/>
        </p:nvSpPr>
        <p:spPr>
          <a:xfrm>
            <a:off x="6519672" y="453999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Maryland</a:t>
            </a:r>
          </a:p>
        </p:txBody>
      </p:sp>
      <p:sp>
        <p:nvSpPr>
          <p:cNvPr id="182" name="TextBox 59"/>
          <p:cNvSpPr txBox="1"/>
          <p:nvPr/>
        </p:nvSpPr>
        <p:spPr>
          <a:xfrm>
            <a:off x="8522208" y="453999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50.0</a:t>
            </a:r>
          </a:p>
        </p:txBody>
      </p:sp>
      <p:sp>
        <p:nvSpPr>
          <p:cNvPr id="183" name="TextBox 58"/>
          <p:cNvSpPr txBox="1"/>
          <p:nvPr/>
        </p:nvSpPr>
        <p:spPr>
          <a:xfrm>
            <a:off x="6519672" y="4716475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Kentucky</a:t>
            </a:r>
          </a:p>
        </p:txBody>
      </p:sp>
      <p:sp>
        <p:nvSpPr>
          <p:cNvPr id="184" name="TextBox 59"/>
          <p:cNvSpPr txBox="1"/>
          <p:nvPr/>
        </p:nvSpPr>
        <p:spPr>
          <a:xfrm>
            <a:off x="8522208" y="4716475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49.5</a:t>
            </a:r>
          </a:p>
        </p:txBody>
      </p:sp>
      <p:sp>
        <p:nvSpPr>
          <p:cNvPr id="185" name="TextBox 58"/>
          <p:cNvSpPr txBox="1"/>
          <p:nvPr/>
        </p:nvSpPr>
        <p:spPr>
          <a:xfrm>
            <a:off x="6519672" y="4892954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Massachusetts</a:t>
            </a:r>
          </a:p>
        </p:txBody>
      </p:sp>
      <p:sp>
        <p:nvSpPr>
          <p:cNvPr id="186" name="TextBox 59"/>
          <p:cNvSpPr txBox="1"/>
          <p:nvPr/>
        </p:nvSpPr>
        <p:spPr>
          <a:xfrm>
            <a:off x="8522208" y="4892954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48.5</a:t>
            </a:r>
          </a:p>
        </p:txBody>
      </p:sp>
      <p:sp>
        <p:nvSpPr>
          <p:cNvPr id="187" name="TextBox 58"/>
          <p:cNvSpPr txBox="1"/>
          <p:nvPr/>
        </p:nvSpPr>
        <p:spPr>
          <a:xfrm>
            <a:off x="6519672" y="5069433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Arizona</a:t>
            </a:r>
          </a:p>
        </p:txBody>
      </p:sp>
      <p:sp>
        <p:nvSpPr>
          <p:cNvPr id="188" name="TextBox 59"/>
          <p:cNvSpPr txBox="1"/>
          <p:nvPr/>
        </p:nvSpPr>
        <p:spPr>
          <a:xfrm>
            <a:off x="8522208" y="5069433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47.5</a:t>
            </a:r>
          </a:p>
        </p:txBody>
      </p:sp>
      <p:sp>
        <p:nvSpPr>
          <p:cNvPr id="189" name="TextBox 58"/>
          <p:cNvSpPr txBox="1"/>
          <p:nvPr/>
        </p:nvSpPr>
        <p:spPr>
          <a:xfrm>
            <a:off x="6519672" y="5245912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North Carolina</a:t>
            </a:r>
          </a:p>
        </p:txBody>
      </p:sp>
      <p:sp>
        <p:nvSpPr>
          <p:cNvPr id="190" name="TextBox 59"/>
          <p:cNvSpPr txBox="1"/>
          <p:nvPr/>
        </p:nvSpPr>
        <p:spPr>
          <a:xfrm>
            <a:off x="8522208" y="5245912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47.5</a:t>
            </a:r>
          </a:p>
        </p:txBody>
      </p:sp>
      <p:sp>
        <p:nvSpPr>
          <p:cNvPr id="191" name="TextBox 58"/>
          <p:cNvSpPr txBox="1"/>
          <p:nvPr/>
        </p:nvSpPr>
        <p:spPr>
          <a:xfrm>
            <a:off x="6519672" y="5422392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Colorado</a:t>
            </a:r>
          </a:p>
        </p:txBody>
      </p:sp>
      <p:sp>
        <p:nvSpPr>
          <p:cNvPr id="192" name="TextBox 59"/>
          <p:cNvSpPr txBox="1"/>
          <p:nvPr/>
        </p:nvSpPr>
        <p:spPr>
          <a:xfrm>
            <a:off x="8522208" y="5422392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45.0</a:t>
            </a:r>
          </a:p>
        </p:txBody>
      </p:sp>
      <p:sp>
        <p:nvSpPr>
          <p:cNvPr id="193" name="TextBox 58"/>
          <p:cNvSpPr txBox="1"/>
          <p:nvPr/>
        </p:nvSpPr>
        <p:spPr>
          <a:xfrm>
            <a:off x="6519672" y="5598871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Illinois</a:t>
            </a:r>
          </a:p>
        </p:txBody>
      </p:sp>
      <p:sp>
        <p:nvSpPr>
          <p:cNvPr id="194" name="TextBox 59"/>
          <p:cNvSpPr txBox="1"/>
          <p:nvPr/>
        </p:nvSpPr>
        <p:spPr>
          <a:xfrm>
            <a:off x="8522208" y="5598871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45.0</a:t>
            </a:r>
          </a:p>
        </p:txBody>
      </p:sp>
      <p:sp>
        <p:nvSpPr>
          <p:cNvPr id="195" name="TextBox 58"/>
          <p:cNvSpPr txBox="1"/>
          <p:nvPr/>
        </p:nvSpPr>
        <p:spPr>
          <a:xfrm>
            <a:off x="6519672" y="5775350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Washington</a:t>
            </a:r>
          </a:p>
        </p:txBody>
      </p:sp>
      <p:sp>
        <p:nvSpPr>
          <p:cNvPr id="196" name="TextBox 59"/>
          <p:cNvSpPr txBox="1"/>
          <p:nvPr/>
        </p:nvSpPr>
        <p:spPr>
          <a:xfrm>
            <a:off x="8522208" y="5775350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42.5</a:t>
            </a:r>
          </a:p>
        </p:txBody>
      </p:sp>
      <p:sp>
        <p:nvSpPr>
          <p:cNvPr id="197" name="TextBox 58"/>
          <p:cNvSpPr txBox="1"/>
          <p:nvPr/>
        </p:nvSpPr>
        <p:spPr>
          <a:xfrm>
            <a:off x="6519672" y="5951829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Pennsylvania</a:t>
            </a:r>
          </a:p>
        </p:txBody>
      </p:sp>
      <p:sp>
        <p:nvSpPr>
          <p:cNvPr id="198" name="TextBox 59"/>
          <p:cNvSpPr txBox="1"/>
          <p:nvPr/>
        </p:nvSpPr>
        <p:spPr>
          <a:xfrm>
            <a:off x="8522208" y="5951829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40.5</a:t>
            </a:r>
          </a:p>
        </p:txBody>
      </p:sp>
      <p:sp>
        <p:nvSpPr>
          <p:cNvPr id="199" name="TextBox 108"/>
          <p:cNvSpPr txBox="1"/>
          <p:nvPr/>
        </p:nvSpPr>
        <p:spPr>
          <a:xfrm>
            <a:off x="9464040" y="189280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New York</a:t>
            </a:r>
          </a:p>
        </p:txBody>
      </p:sp>
      <p:sp>
        <p:nvSpPr>
          <p:cNvPr id="200" name="TextBox 109"/>
          <p:cNvSpPr txBox="1"/>
          <p:nvPr/>
        </p:nvSpPr>
        <p:spPr>
          <a:xfrm>
            <a:off x="11466576" y="189280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38.5</a:t>
            </a:r>
          </a:p>
        </p:txBody>
      </p:sp>
      <p:sp>
        <p:nvSpPr>
          <p:cNvPr id="201" name="TextBox 108"/>
          <p:cNvSpPr txBox="1"/>
          <p:nvPr/>
        </p:nvSpPr>
        <p:spPr>
          <a:xfrm>
            <a:off x="9464040" y="206928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New Jersey</a:t>
            </a:r>
          </a:p>
        </p:txBody>
      </p:sp>
      <p:sp>
        <p:nvSpPr>
          <p:cNvPr id="202" name="TextBox 109"/>
          <p:cNvSpPr txBox="1"/>
          <p:nvPr/>
        </p:nvSpPr>
        <p:spPr>
          <a:xfrm>
            <a:off x="11466576" y="206928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38.0</a:t>
            </a:r>
          </a:p>
        </p:txBody>
      </p:sp>
      <p:sp>
        <p:nvSpPr>
          <p:cNvPr id="203" name="TextBox 108"/>
          <p:cNvSpPr txBox="1"/>
          <p:nvPr/>
        </p:nvSpPr>
        <p:spPr>
          <a:xfrm>
            <a:off x="9464040" y="224576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Oregon</a:t>
            </a:r>
          </a:p>
        </p:txBody>
      </p:sp>
      <p:sp>
        <p:nvSpPr>
          <p:cNvPr id="204" name="TextBox 109"/>
          <p:cNvSpPr txBox="1"/>
          <p:nvPr/>
        </p:nvSpPr>
        <p:spPr>
          <a:xfrm>
            <a:off x="11466576" y="224576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36.5</a:t>
            </a:r>
          </a:p>
        </p:txBody>
      </p:sp>
      <p:sp>
        <p:nvSpPr>
          <p:cNvPr id="205" name="TextBox 108"/>
          <p:cNvSpPr txBox="1"/>
          <p:nvPr/>
        </p:nvSpPr>
        <p:spPr>
          <a:xfrm>
            <a:off x="9464040" y="2422245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California</a:t>
            </a:r>
          </a:p>
        </p:txBody>
      </p:sp>
      <p:sp>
        <p:nvSpPr>
          <p:cNvPr id="206" name="TextBox 109"/>
          <p:cNvSpPr txBox="1"/>
          <p:nvPr/>
        </p:nvSpPr>
        <p:spPr>
          <a:xfrm>
            <a:off x="11466576" y="2422245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36.0</a:t>
            </a:r>
          </a:p>
        </p:txBody>
      </p:sp>
      <p:sp>
        <p:nvSpPr>
          <p:cNvPr id="207" name="TextBox 108"/>
          <p:cNvSpPr txBox="1"/>
          <p:nvPr/>
        </p:nvSpPr>
        <p:spPr>
          <a:xfrm>
            <a:off x="9464040" y="2598724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Alabama</a:t>
            </a:r>
          </a:p>
        </p:txBody>
      </p:sp>
      <p:sp>
        <p:nvSpPr>
          <p:cNvPr id="208" name="TextBox 109"/>
          <p:cNvSpPr txBox="1"/>
          <p:nvPr/>
        </p:nvSpPr>
        <p:spPr>
          <a:xfrm>
            <a:off x="11466576" y="2598724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20.0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t>SCORING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Four dimensions; one weighted policy score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34440"/>
            <a:ext cx="10881360" cy="93268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023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362456"/>
            <a:ext cx="914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35%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389888"/>
            <a:ext cx="530352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173B73"/>
                </a:solidFill>
                <a:latin typeface="Aptos"/>
              </a:defRPr>
            </a:pPr>
            <a:r>
              <a:rPr/>
              <a:t>Speed to power, interconnection, tariffs and supply options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95728"/>
            <a:ext cx="10881360" cy="93268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514600"/>
            <a:ext cx="4023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914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551176"/>
            <a:ext cx="530352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173B73"/>
                </a:solidFill>
                <a:latin typeface="Aptos"/>
              </a:defRPr>
            </a:pPr>
            <a:r>
              <a:rPr/>
              <a:t>Water sourcing, cooling requirements and permits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557016"/>
            <a:ext cx="10881360" cy="93268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75888"/>
            <a:ext cx="4023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685032"/>
            <a:ext cx="914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25%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12464"/>
            <a:ext cx="530352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173B73"/>
                </a:solidFill>
                <a:latin typeface="Aptos"/>
              </a:defRPr>
            </a:pPr>
            <a:r>
              <a:rPr/>
              <a:t>Tax incentives, government posture, entitlements and restrictions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718304"/>
            <a:ext cx="10881360" cy="93268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837176"/>
            <a:ext cx="4023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4846320"/>
            <a:ext cx="914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873752"/>
            <a:ext cx="530352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173B73"/>
                </a:solidFill>
                <a:latin typeface="Aptos"/>
              </a:defRPr>
            </a:pPr>
            <a:r>
              <a:rPr/>
              <a:t>Community opposition, contested projects and development precedent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ALABAMA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Low-regulation state with favorable incentives, but local moratoria and utility requirements are rising.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20.0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475488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475488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475488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475488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Restrictive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ALASKA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Supportive posture and no statewide SUT, but fragmented grid and infrastructure constraints dominate.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ARIZONA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Three-year incentive moratorium, new large-load authority, and growing local restrictions materially weaken the market.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47.5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ARKANSAS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Favorable incentive construct and state support; local pushback is emerging and source coverage is limited.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CALIFORNIA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No statewide SUT incentive, restrictive environmental policy, and accelerating local bans/moratoria.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36.0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Restrictive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COLORADO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No data-center SUT incentive and growing local zoning/moratorium activity; 2026 incentive legislation failed.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CONNECTICUT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Current environment is mixed; attempted closure of the incentive program signals weakening political support.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57.5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DELAWARE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New large-load tariff law shifts infrastructure costs and long-term obligations to large users.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54.5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HB 233 signed; large-load tariff now required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FLORIDA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preserves local authority while local moratoria spread across major jurisdictions.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GEORGIA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Strong tax incentive is offset by adverse power terms and exceptionally broad local opposition.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54.0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HAWAII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Policy scrutiny is limited today, but isolated grids create a structurally difficult large-load environment.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IDAHO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Full SUT exemption and workable power backdrop remain attractive, while water and legislative scrutiny are increasing.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74.5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ILLINOIS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incentive processing is paused and the governor has outlined a broad restrictive framework; local action is rising.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INDIANA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Long-duration incentives remain attractive, but restrictive power terms and widespread local moratoria create execution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57.0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IOWA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incentive framework remains, but local moratoria have proliferated across more than a dozen counties.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KANSAS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Excellent incentive and supportive state posture are offset by strong local opposition and moratoria.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69.0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5.0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KENTUCKY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Governor-directed ratepayer/environment protections and a growing local moratorium wave create substantial forward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49.5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Executive Order 2026-494 raises permitting bar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LOUISIANA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Strong incentives, favorable state posture, and generally permissive local conditions remain a leading policy combination.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87.5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5.0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Favorable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MAINE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removed data centers from incentive programs and local moratoria expanded after the statewide moratorium veto.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MARYLAND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Statewide moratorium failed, but incentive restrictions and significant county-level pauses create a challenging local environment.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MASSACHUSETTS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paused applications while developing stronger ratepayer, clean-energy, environmental, and community protections.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MICHIGAN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Incentives remain protected by the governor, but repeal and moratorium packages show meaningful legislative pressure.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MINNESOTA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Electricity SUT exemption was eliminated and multiple local moratoria are active despite statewide moratorium bills failing.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MISSISSIPPI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Limited adverse activity in the provided materials; current tax and local environment appear comparatively stable.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MISSOURI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Innovation-zone incentives now exclude data centers and restrictive rural siting proposals indicate rising scrutiny.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MONTANA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No statewide SUT and supportive BTM posture remain attractive, with emerging local opposition and tariff scrutiny.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NEBRASKA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Governor ended access to ImagiNE Nebraska incentives and launched a resource-impact task force.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Governor ends data-center access to ImagiNE Nebraska incentives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NEVADA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Meaningful abatements remain, but Reno moratorium and election-driven scrutiny increase uncertainty.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NEW HAMPSHIRE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Statewide moratorium failed and no major current restriction is identified; incentive effort also failed.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69.0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NEW JERSEY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Tax credits were eliminated, a strict large-load framework was enacted, and local bans/restrictions are widespread.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38.0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475488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Restrictive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Governor signed the End Data Center Tax Credits Act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NEW MEXICO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Current microgrid flexibility is strong, but a statewide moratorium and microgrid restrictions are credible 2027 risks.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67.0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7552944" y="4562856"/>
            <a:ext cx="3611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Statewide moratorium proposal expected in 2027 session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NEW YORK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Statewide environmental-permit moratorium is in force for hyperscale projects and further tax/regulatory restrictions are expected.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38.5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Restrictive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Executive Order 62 creates one-year hyperscale permitting moratorium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NORTH CAROLINA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Electricity SUT exemption was repealed and more than 30 local jurisdictions have enacted moratoria or bans.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47.5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475488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NORTH DAKOTA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Favorable incentives, supportive leadership and BTM using local gas remain attractive; interim study is a watch item.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82.5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Favorable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OHIO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Permissive BTM is offset by incentive uncertainty, restrictive tariff treatment and the nation’s densest local restriction activity.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53.0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OKLAHOMA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Longstanding incentives remain, but new ratepayer-protection and groundwater/cooling rules materially tighten development conditions.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56.0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OREGON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Highly adverse power tariff, paused property-tax incentives, difficult entitlements and restrictive trajectory.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36.5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Restrictive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7552944" y="4562856"/>
            <a:ext cx="3611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Moratorium proposal and incentive framework return to legislature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PENNSYLVANIA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Binding GRID requirements now condition permitting and incentives and materially increase infrastructure obligations.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40.5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Executive Order 2026-05 makes GRID requirements binding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RHODE ISLAND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Proposed 30-year incentive did not advance; one local outright ban is identified, leaving a mixed but not broadly restrictive picture.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64.0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SOUTH CAROLINA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Multiple restrictive proposals failed; current statewide environment remains relatively open with some local moratorium activity.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71.5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SOUTH DAKOTA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2026 law codified full-cost and water protections while preserving local control; incentive and moratorium bills failed.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56.0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TENNESSEE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State-level environment is less defined, but local moratoria and restrictive zoning have spread across major jurisdictions.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TEXAS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Strong current tax and local-development advantages remain, but state intervention has sharply increased power and forward policy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ERCOT interconnection audit halts advancing connections</a:t>
            </a:r>
          </a:p>
        </p:txBody>
      </p:sp>
      <p:sp>
        <p:nvSpPr>
          <p:cNvPr id="51" name="STACK_GENERATED_EVENT"/>
          <p:cNvSpPr txBox="1"/>
          <p:nvPr/>
        </p:nvSpPr>
        <p:spPr>
          <a:xfrm>
            <a:off x="7552944" y="4562856"/>
            <a:ext cx="3611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Incentive repeal and new operating guardrails expected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UTAH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BTM remains favorable, but incentive restrictions, water reporting and the governor’s higher-bar framework point to tighter 2027 policy.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68.0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VERMONT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Moratorium and gross-receipts financing proposals failed or were vetoed, leaving current policy less restrictive than proposals suggest.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VIRGINIA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Mature market precedent is offset by higher power cost allocation, loss of by-right pathways and new tax/environmental conditions.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51.5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SCC assigns dedicated transmission costs to large-load data centers</a:t>
            </a:r>
          </a:p>
        </p:txBody>
      </p:sp>
      <p:sp>
        <p:nvSpPr>
          <p:cNvPr id="51" name="STACK_GENERATED_EVENT"/>
          <p:cNvSpPr txBox="1"/>
          <p:nvPr/>
        </p:nvSpPr>
        <p:spPr>
          <a:xfrm>
            <a:off x="7552944" y="4562856"/>
            <a:ext cx="3611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Joint Subcommittee tax-policy recommendations due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WASHINGTON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Clean-energy constraints, narrowed tax benefits and multiple local pauses create a difficult and worsening environment.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42.5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WEST VIRGINIA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leadership prioritizes data-center attraction with supportive entitlement and BTM posture; several additional incentives were proposed.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82.5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Favorable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WISCONSIN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Excellent incentives remain, but a punitive large-load tariff and rapid growth in local moratoria materially increase execution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53.5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WYOMING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Full SUT exemption, strong BTM flexibility and receptive development conditions remain attractive; 2027 recommendations create forward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88.5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Favorable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7552944" y="4562856"/>
            <a:ext cx="3611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Policy recommendations from Governor-directed review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Supporting methodology, policy developments and county-level intelligence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1005840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600" b="1">
                <a:solidFill>
                  <a:srgbClr val="173B73"/>
                </a:solidFill>
                <a:latin typeface="Aptos ExtraBold"/>
              </a:defRPr>
            </a:pPr>
            <a:r>
              <a:rPr/>
              <a:t>SUPPORTING POLICY INTELLIGENCE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Weighted overall score = 20 × sum of dimension scores multiplied by weights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25880"/>
            <a:ext cx="10698480" cy="74980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508760"/>
            <a:ext cx="8229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1508760"/>
            <a:ext cx="11887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35%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67712"/>
            <a:ext cx="10698480" cy="74980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50592"/>
            <a:ext cx="8229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450592"/>
            <a:ext cx="11887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15%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209544"/>
            <a:ext cx="10698480" cy="74980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92424"/>
            <a:ext cx="8229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3392424"/>
            <a:ext cx="11887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25%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51376"/>
            <a:ext cx="10698480" cy="74980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334256"/>
            <a:ext cx="8229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4334256"/>
            <a:ext cx="11887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25%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1060704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t>Dimension scores: 1.0–5.0. Trend, Forward Policy Risk are reported separately.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WHAT'S CHANGED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Current policy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18872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27, 2026  |  New Jersey  |  Governor signed the End Data Center Tax Credits 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26, 2026  |  Delaware  |  HB 233 signed; large-load tariff now required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08483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18, 2026  |  Pennsylvania  |  Executive Order 2026-05 makes GRID requirements binding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53288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06, 2026  |  Kentucky  |  Executive Order 2026-494 raises permitting bar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98094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03, 2026  |  Texas  |  ERCOT interconnection audit halts advancing connections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42900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Jul 31, 2026  |  Virginia  |  SCC assigns dedicated transmission costs to large-load data centers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87705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Jul 21, 2026  |  Nebraska  |  Governor ends data-center access to ImagiNE Nebraska incentives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32511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Jul 14, 2026  |  New York  |  Executive Order 62 creates one-year hyperscale permitting moratorium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77316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3232" y="522122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FORWARD POLICY RADAR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Future developments and catalysts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18872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Virginia  |  Joint Subcommittee tax-policy recommendations due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New Mexico  |  Statewide moratorium proposal expected in 2027 session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08483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2027-session  |  Texas  |  Incentive repeal and new operating guardrails expected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53288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2027-session  |  Wyoming  |  Policy recommendations from Governor-directed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98094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2027-session  |  Oregon  |  Moratorium proposal and incentive framework return to legislature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42900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13232" y="387705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13232" y="432511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3232" y="477316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3232" y="522122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COUNTY-LEVEL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Supporting local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18872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California  |  Los Angeles County  |  Tier 1 — Established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Virginia  |  Loudoun County  |  Tier 1 — Established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08483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Arizona  |  Maricopa County  |  Tier 1 — Established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53288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Texas  |  Dallas County  |  Tier 1 — Established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98094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Texas  |  Tarrant County  |  Tier 1 — Established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42900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Georgia  |  Douglas County  |  Tier 1 — Established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87705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Georgia  |  Fulton County  |  Tier 1 — Established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32511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Ohio  |  Franklin County  |  Tier 1 — Established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77316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Illinois  |  Cook County  |  Tier 1 — Established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522122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Oregon  |  Washington County  |  Tier 1 — Established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U.S. Data Center Policy Landscape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