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ck_cov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8328" y="4197096"/>
            <a:ext cx="9372600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FFFFFF"/>
                </a:solidFill>
                <a:latin typeface="Aptos"/>
              </a:defRPr>
            </a:pPr>
            <a:r>
              <a:rPr/>
              <a:t>U.S. DATA CENTER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5596128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5291"/>
                </a:solidFill>
                <a:latin typeface="Aptos"/>
              </a:defRPr>
            </a:pPr>
            <a:r>
              <a:rPr/>
              <a:t>OCTOBER 2026  |  50-STATE POLICY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state policy environment; trend and forward risk assessed separately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AVERAGE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FAVORABLE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5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HIGH FORWARD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0789920" cy="10515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73B73"/>
                </a:solidFill>
                <a:latin typeface="Aptos"/>
              </a:defRPr>
            </a:pPr>
            <a:r>
              <a:rPr/>
              <a:t>Scores reflect a weighted four-dimension framework. Power and community acceptance remain central to development feasibility.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50-STATE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States grouped by current policy environment | score shown on a 100-point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3181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318159"/>
                </a:solidFill>
                <a:latin typeface="Aptos Display"/>
              </a:defRPr>
            </a:pPr>
            <a:r>
              <a:t>FAVORABLE  (4)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B68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B68F2B"/>
                </a:solidFill>
                <a:latin typeface="Aptos Display"/>
              </a:defRPr>
            </a:pPr>
            <a:r>
              <a:t>MODERATE  (17)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82512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C37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C37434"/>
                </a:solidFill>
                <a:latin typeface="Aptos Display"/>
              </a:defRPr>
            </a:pPr>
            <a:r>
              <a:t>CHALLENGING  (24)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26880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A04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482328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A04B4E"/>
                </a:solidFill>
                <a:latin typeface="Aptos Display"/>
              </a:defRPr>
            </a:pPr>
            <a:r>
              <a:t>RESTRICTIVE  (5)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30936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Wyoming</a:t>
            </a:r>
          </a:p>
        </p:txBody>
      </p:sp>
      <p:sp>
        <p:nvSpPr>
          <p:cNvPr id="110" name="TextBox 11"/>
          <p:cNvSpPr txBox="1"/>
          <p:nvPr/>
        </p:nvSpPr>
        <p:spPr>
          <a:xfrm>
            <a:off x="2633472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88.5</a:t>
            </a:r>
          </a:p>
        </p:txBody>
      </p:sp>
      <p:sp>
        <p:nvSpPr>
          <p:cNvPr id="111" name="TextBox 10"/>
          <p:cNvSpPr txBox="1"/>
          <p:nvPr/>
        </p:nvSpPr>
        <p:spPr>
          <a:xfrm>
            <a:off x="630936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Louisiana</a:t>
            </a:r>
          </a:p>
        </p:txBody>
      </p:sp>
      <p:sp>
        <p:nvSpPr>
          <p:cNvPr id="112" name="TextBox 11"/>
          <p:cNvSpPr txBox="1"/>
          <p:nvPr/>
        </p:nvSpPr>
        <p:spPr>
          <a:xfrm>
            <a:off x="2633472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87.5</a:t>
            </a:r>
          </a:p>
        </p:txBody>
      </p:sp>
      <p:sp>
        <p:nvSpPr>
          <p:cNvPr id="113" name="TextBox 10"/>
          <p:cNvSpPr txBox="1"/>
          <p:nvPr/>
        </p:nvSpPr>
        <p:spPr>
          <a:xfrm>
            <a:off x="630936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North Dakota</a:t>
            </a:r>
          </a:p>
        </p:txBody>
      </p:sp>
      <p:sp>
        <p:nvSpPr>
          <p:cNvPr id="114" name="TextBox 11"/>
          <p:cNvSpPr txBox="1"/>
          <p:nvPr/>
        </p:nvSpPr>
        <p:spPr>
          <a:xfrm>
            <a:off x="2633472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82.5</a:t>
            </a:r>
          </a:p>
        </p:txBody>
      </p:sp>
      <p:sp>
        <p:nvSpPr>
          <p:cNvPr id="115" name="TextBox 10"/>
          <p:cNvSpPr txBox="1"/>
          <p:nvPr/>
        </p:nvSpPr>
        <p:spPr>
          <a:xfrm>
            <a:off x="630936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West Virginia</a:t>
            </a:r>
          </a:p>
        </p:txBody>
      </p:sp>
      <p:sp>
        <p:nvSpPr>
          <p:cNvPr id="116" name="TextBox 11"/>
          <p:cNvSpPr txBox="1"/>
          <p:nvPr/>
        </p:nvSpPr>
        <p:spPr>
          <a:xfrm>
            <a:off x="2633472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82.5</a:t>
            </a:r>
          </a:p>
        </p:txBody>
      </p:sp>
      <p:sp>
        <p:nvSpPr>
          <p:cNvPr id="117" name="TextBox 20"/>
          <p:cNvSpPr txBox="1"/>
          <p:nvPr/>
        </p:nvSpPr>
        <p:spPr>
          <a:xfrm>
            <a:off x="3575304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Arkansas</a:t>
            </a:r>
          </a:p>
        </p:txBody>
      </p:sp>
      <p:sp>
        <p:nvSpPr>
          <p:cNvPr id="118" name="TextBox 21"/>
          <p:cNvSpPr txBox="1"/>
          <p:nvPr/>
        </p:nvSpPr>
        <p:spPr>
          <a:xfrm>
            <a:off x="5577840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76.5</a:t>
            </a:r>
          </a:p>
        </p:txBody>
      </p:sp>
      <p:sp>
        <p:nvSpPr>
          <p:cNvPr id="119" name="TextBox 20"/>
          <p:cNvSpPr txBox="1"/>
          <p:nvPr/>
        </p:nvSpPr>
        <p:spPr>
          <a:xfrm>
            <a:off x="3575304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Mississippi</a:t>
            </a:r>
          </a:p>
        </p:txBody>
      </p:sp>
      <p:sp>
        <p:nvSpPr>
          <p:cNvPr id="120" name="TextBox 21"/>
          <p:cNvSpPr txBox="1"/>
          <p:nvPr/>
        </p:nvSpPr>
        <p:spPr>
          <a:xfrm>
            <a:off x="5577840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76.5</a:t>
            </a:r>
          </a:p>
        </p:txBody>
      </p:sp>
      <p:sp>
        <p:nvSpPr>
          <p:cNvPr id="121" name="TextBox 20"/>
          <p:cNvSpPr txBox="1"/>
          <p:nvPr/>
        </p:nvSpPr>
        <p:spPr>
          <a:xfrm>
            <a:off x="3575304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Montana</a:t>
            </a:r>
          </a:p>
        </p:txBody>
      </p:sp>
      <p:sp>
        <p:nvSpPr>
          <p:cNvPr id="122" name="TextBox 21"/>
          <p:cNvSpPr txBox="1"/>
          <p:nvPr/>
        </p:nvSpPr>
        <p:spPr>
          <a:xfrm>
            <a:off x="5577840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75.0</a:t>
            </a:r>
          </a:p>
        </p:txBody>
      </p:sp>
      <p:sp>
        <p:nvSpPr>
          <p:cNvPr id="123" name="TextBox 20"/>
          <p:cNvSpPr txBox="1"/>
          <p:nvPr/>
        </p:nvSpPr>
        <p:spPr>
          <a:xfrm>
            <a:off x="3575304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Idaho</a:t>
            </a:r>
          </a:p>
        </p:txBody>
      </p:sp>
      <p:sp>
        <p:nvSpPr>
          <p:cNvPr id="124" name="TextBox 21"/>
          <p:cNvSpPr txBox="1"/>
          <p:nvPr/>
        </p:nvSpPr>
        <p:spPr>
          <a:xfrm>
            <a:off x="5577840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74.5</a:t>
            </a:r>
          </a:p>
        </p:txBody>
      </p:sp>
      <p:sp>
        <p:nvSpPr>
          <p:cNvPr id="125" name="TextBox 20"/>
          <p:cNvSpPr txBox="1"/>
          <p:nvPr/>
        </p:nvSpPr>
        <p:spPr>
          <a:xfrm>
            <a:off x="3575304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South Carolina</a:t>
            </a:r>
          </a:p>
        </p:txBody>
      </p:sp>
      <p:sp>
        <p:nvSpPr>
          <p:cNvPr id="126" name="TextBox 21"/>
          <p:cNvSpPr txBox="1"/>
          <p:nvPr/>
        </p:nvSpPr>
        <p:spPr>
          <a:xfrm>
            <a:off x="5577840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71.5</a:t>
            </a:r>
          </a:p>
        </p:txBody>
      </p:sp>
      <p:sp>
        <p:nvSpPr>
          <p:cNvPr id="127" name="TextBox 20"/>
          <p:cNvSpPr txBox="1"/>
          <p:nvPr/>
        </p:nvSpPr>
        <p:spPr>
          <a:xfrm>
            <a:off x="3575304" y="277520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Kansas</a:t>
            </a:r>
          </a:p>
        </p:txBody>
      </p:sp>
      <p:sp>
        <p:nvSpPr>
          <p:cNvPr id="128" name="TextBox 21"/>
          <p:cNvSpPr txBox="1"/>
          <p:nvPr/>
        </p:nvSpPr>
        <p:spPr>
          <a:xfrm>
            <a:off x="5577840" y="277520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69.0</a:t>
            </a:r>
          </a:p>
        </p:txBody>
      </p:sp>
      <p:sp>
        <p:nvSpPr>
          <p:cNvPr id="129" name="TextBox 20"/>
          <p:cNvSpPr txBox="1"/>
          <p:nvPr/>
        </p:nvSpPr>
        <p:spPr>
          <a:xfrm>
            <a:off x="3575304" y="295168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Hampshire</a:t>
            </a:r>
          </a:p>
        </p:txBody>
      </p:sp>
      <p:sp>
        <p:nvSpPr>
          <p:cNvPr id="130" name="TextBox 21"/>
          <p:cNvSpPr txBox="1"/>
          <p:nvPr/>
        </p:nvSpPr>
        <p:spPr>
          <a:xfrm>
            <a:off x="5577840" y="295168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69.0</a:t>
            </a:r>
          </a:p>
        </p:txBody>
      </p:sp>
      <p:sp>
        <p:nvSpPr>
          <p:cNvPr id="131" name="TextBox 20"/>
          <p:cNvSpPr txBox="1"/>
          <p:nvPr/>
        </p:nvSpPr>
        <p:spPr>
          <a:xfrm>
            <a:off x="3575304" y="312816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Utah</a:t>
            </a:r>
          </a:p>
        </p:txBody>
      </p:sp>
      <p:sp>
        <p:nvSpPr>
          <p:cNvPr id="132" name="TextBox 21"/>
          <p:cNvSpPr txBox="1"/>
          <p:nvPr/>
        </p:nvSpPr>
        <p:spPr>
          <a:xfrm>
            <a:off x="5577840" y="312816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68.0</a:t>
            </a:r>
          </a:p>
        </p:txBody>
      </p:sp>
      <p:sp>
        <p:nvSpPr>
          <p:cNvPr id="133" name="TextBox 20"/>
          <p:cNvSpPr txBox="1"/>
          <p:nvPr/>
        </p:nvSpPr>
        <p:spPr>
          <a:xfrm>
            <a:off x="3575304" y="330464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Mexico</a:t>
            </a:r>
          </a:p>
        </p:txBody>
      </p:sp>
      <p:sp>
        <p:nvSpPr>
          <p:cNvPr id="134" name="TextBox 21"/>
          <p:cNvSpPr txBox="1"/>
          <p:nvPr/>
        </p:nvSpPr>
        <p:spPr>
          <a:xfrm>
            <a:off x="5577840" y="330464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67.0</a:t>
            </a:r>
          </a:p>
        </p:txBody>
      </p:sp>
      <p:sp>
        <p:nvSpPr>
          <p:cNvPr id="135" name="TextBox 20"/>
          <p:cNvSpPr txBox="1"/>
          <p:nvPr/>
        </p:nvSpPr>
        <p:spPr>
          <a:xfrm>
            <a:off x="3575304" y="348112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Iowa</a:t>
            </a:r>
          </a:p>
        </p:txBody>
      </p:sp>
      <p:sp>
        <p:nvSpPr>
          <p:cNvPr id="136" name="TextBox 21"/>
          <p:cNvSpPr txBox="1"/>
          <p:nvPr/>
        </p:nvSpPr>
        <p:spPr>
          <a:xfrm>
            <a:off x="5577840" y="348112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37" name="TextBox 20"/>
          <p:cNvSpPr txBox="1"/>
          <p:nvPr/>
        </p:nvSpPr>
        <p:spPr>
          <a:xfrm>
            <a:off x="3575304" y="365760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Missouri</a:t>
            </a:r>
          </a:p>
        </p:txBody>
      </p:sp>
      <p:sp>
        <p:nvSpPr>
          <p:cNvPr id="138" name="TextBox 21"/>
          <p:cNvSpPr txBox="1"/>
          <p:nvPr/>
        </p:nvSpPr>
        <p:spPr>
          <a:xfrm>
            <a:off x="5577840" y="365760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39" name="TextBox 20"/>
          <p:cNvSpPr txBox="1"/>
          <p:nvPr/>
        </p:nvSpPr>
        <p:spPr>
          <a:xfrm>
            <a:off x="3575304" y="383407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Texas</a:t>
            </a:r>
          </a:p>
        </p:txBody>
      </p:sp>
      <p:sp>
        <p:nvSpPr>
          <p:cNvPr id="140" name="TextBox 21"/>
          <p:cNvSpPr txBox="1"/>
          <p:nvPr/>
        </p:nvSpPr>
        <p:spPr>
          <a:xfrm>
            <a:off x="5577840" y="383407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1" name="TextBox 20"/>
          <p:cNvSpPr txBox="1"/>
          <p:nvPr/>
        </p:nvSpPr>
        <p:spPr>
          <a:xfrm>
            <a:off x="3575304" y="4010558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Vermont</a:t>
            </a:r>
          </a:p>
        </p:txBody>
      </p:sp>
      <p:sp>
        <p:nvSpPr>
          <p:cNvPr id="142" name="TextBox 21"/>
          <p:cNvSpPr txBox="1"/>
          <p:nvPr/>
        </p:nvSpPr>
        <p:spPr>
          <a:xfrm>
            <a:off x="5577840" y="4010558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3" name="TextBox 20"/>
          <p:cNvSpPr txBox="1"/>
          <p:nvPr/>
        </p:nvSpPr>
        <p:spPr>
          <a:xfrm>
            <a:off x="3575304" y="418703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Rhode Island</a:t>
            </a:r>
          </a:p>
        </p:txBody>
      </p:sp>
      <p:sp>
        <p:nvSpPr>
          <p:cNvPr id="144" name="TextBox 21"/>
          <p:cNvSpPr txBox="1"/>
          <p:nvPr/>
        </p:nvSpPr>
        <p:spPr>
          <a:xfrm>
            <a:off x="5577840" y="418703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64.0</a:t>
            </a:r>
          </a:p>
        </p:txBody>
      </p:sp>
      <p:sp>
        <p:nvSpPr>
          <p:cNvPr id="145" name="TextBox 20"/>
          <p:cNvSpPr txBox="1"/>
          <p:nvPr/>
        </p:nvSpPr>
        <p:spPr>
          <a:xfrm>
            <a:off x="3575304" y="436351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Michigan</a:t>
            </a:r>
          </a:p>
        </p:txBody>
      </p:sp>
      <p:sp>
        <p:nvSpPr>
          <p:cNvPr id="146" name="TextBox 21"/>
          <p:cNvSpPr txBox="1"/>
          <p:nvPr/>
        </p:nvSpPr>
        <p:spPr>
          <a:xfrm>
            <a:off x="5577840" y="436351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47" name="TextBox 20"/>
          <p:cNvSpPr txBox="1"/>
          <p:nvPr/>
        </p:nvSpPr>
        <p:spPr>
          <a:xfrm>
            <a:off x="3575304" y="453999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Nevada</a:t>
            </a:r>
          </a:p>
        </p:txBody>
      </p:sp>
      <p:sp>
        <p:nvSpPr>
          <p:cNvPr id="148" name="TextBox 21"/>
          <p:cNvSpPr txBox="1"/>
          <p:nvPr/>
        </p:nvSpPr>
        <p:spPr>
          <a:xfrm>
            <a:off x="5577840" y="453999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49" name="TextBox 20"/>
          <p:cNvSpPr txBox="1"/>
          <p:nvPr/>
        </p:nvSpPr>
        <p:spPr>
          <a:xfrm>
            <a:off x="3575304" y="471647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Tennessee</a:t>
            </a:r>
          </a:p>
        </p:txBody>
      </p:sp>
      <p:sp>
        <p:nvSpPr>
          <p:cNvPr id="150" name="TextBox 21"/>
          <p:cNvSpPr txBox="1"/>
          <p:nvPr/>
        </p:nvSpPr>
        <p:spPr>
          <a:xfrm>
            <a:off x="5577840" y="471647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51" name="TextBox 58"/>
          <p:cNvSpPr txBox="1"/>
          <p:nvPr/>
        </p:nvSpPr>
        <p:spPr>
          <a:xfrm>
            <a:off x="6519672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Alaska</a:t>
            </a:r>
          </a:p>
        </p:txBody>
      </p:sp>
      <p:sp>
        <p:nvSpPr>
          <p:cNvPr id="152" name="TextBox 59"/>
          <p:cNvSpPr txBox="1"/>
          <p:nvPr/>
        </p:nvSpPr>
        <p:spPr>
          <a:xfrm>
            <a:off x="8522208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58.5</a:t>
            </a:r>
          </a:p>
        </p:txBody>
      </p:sp>
      <p:sp>
        <p:nvSpPr>
          <p:cNvPr id="153" name="TextBox 58"/>
          <p:cNvSpPr txBox="1"/>
          <p:nvPr/>
        </p:nvSpPr>
        <p:spPr>
          <a:xfrm>
            <a:off x="6519672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Florida</a:t>
            </a:r>
          </a:p>
        </p:txBody>
      </p:sp>
      <p:sp>
        <p:nvSpPr>
          <p:cNvPr id="154" name="TextBox 59"/>
          <p:cNvSpPr txBox="1"/>
          <p:nvPr/>
        </p:nvSpPr>
        <p:spPr>
          <a:xfrm>
            <a:off x="8522208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58.5</a:t>
            </a:r>
          </a:p>
        </p:txBody>
      </p:sp>
      <p:sp>
        <p:nvSpPr>
          <p:cNvPr id="155" name="TextBox 58"/>
          <p:cNvSpPr txBox="1"/>
          <p:nvPr/>
        </p:nvSpPr>
        <p:spPr>
          <a:xfrm>
            <a:off x="6519672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Connecticut</a:t>
            </a:r>
          </a:p>
        </p:txBody>
      </p:sp>
      <p:sp>
        <p:nvSpPr>
          <p:cNvPr id="156" name="TextBox 59"/>
          <p:cNvSpPr txBox="1"/>
          <p:nvPr/>
        </p:nvSpPr>
        <p:spPr>
          <a:xfrm>
            <a:off x="8522208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57.5</a:t>
            </a:r>
          </a:p>
        </p:txBody>
      </p:sp>
      <p:sp>
        <p:nvSpPr>
          <p:cNvPr id="157" name="TextBox 58"/>
          <p:cNvSpPr txBox="1"/>
          <p:nvPr/>
        </p:nvSpPr>
        <p:spPr>
          <a:xfrm>
            <a:off x="6519672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Indiana</a:t>
            </a:r>
          </a:p>
        </p:txBody>
      </p:sp>
      <p:sp>
        <p:nvSpPr>
          <p:cNvPr id="158" name="TextBox 59"/>
          <p:cNvSpPr txBox="1"/>
          <p:nvPr/>
        </p:nvSpPr>
        <p:spPr>
          <a:xfrm>
            <a:off x="8522208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57.0</a:t>
            </a:r>
          </a:p>
        </p:txBody>
      </p:sp>
      <p:sp>
        <p:nvSpPr>
          <p:cNvPr id="159" name="TextBox 58"/>
          <p:cNvSpPr txBox="1"/>
          <p:nvPr/>
        </p:nvSpPr>
        <p:spPr>
          <a:xfrm>
            <a:off x="6519672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Oklahoma</a:t>
            </a:r>
          </a:p>
        </p:txBody>
      </p:sp>
      <p:sp>
        <p:nvSpPr>
          <p:cNvPr id="160" name="TextBox 59"/>
          <p:cNvSpPr txBox="1"/>
          <p:nvPr/>
        </p:nvSpPr>
        <p:spPr>
          <a:xfrm>
            <a:off x="8522208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56.0</a:t>
            </a:r>
          </a:p>
        </p:txBody>
      </p:sp>
      <p:sp>
        <p:nvSpPr>
          <p:cNvPr id="161" name="TextBox 58"/>
          <p:cNvSpPr txBox="1"/>
          <p:nvPr/>
        </p:nvSpPr>
        <p:spPr>
          <a:xfrm>
            <a:off x="6519672" y="277520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South Dakota</a:t>
            </a:r>
          </a:p>
        </p:txBody>
      </p:sp>
      <p:sp>
        <p:nvSpPr>
          <p:cNvPr id="162" name="TextBox 59"/>
          <p:cNvSpPr txBox="1"/>
          <p:nvPr/>
        </p:nvSpPr>
        <p:spPr>
          <a:xfrm>
            <a:off x="8522208" y="277520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56.0</a:t>
            </a:r>
          </a:p>
        </p:txBody>
      </p:sp>
      <p:sp>
        <p:nvSpPr>
          <p:cNvPr id="163" name="TextBox 58"/>
          <p:cNvSpPr txBox="1"/>
          <p:nvPr/>
        </p:nvSpPr>
        <p:spPr>
          <a:xfrm>
            <a:off x="6519672" y="295168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Minnesota</a:t>
            </a:r>
          </a:p>
        </p:txBody>
      </p:sp>
      <p:sp>
        <p:nvSpPr>
          <p:cNvPr id="164" name="TextBox 59"/>
          <p:cNvSpPr txBox="1"/>
          <p:nvPr/>
        </p:nvSpPr>
        <p:spPr>
          <a:xfrm>
            <a:off x="8522208" y="295168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55.0</a:t>
            </a:r>
          </a:p>
        </p:txBody>
      </p:sp>
      <p:sp>
        <p:nvSpPr>
          <p:cNvPr id="165" name="TextBox 58"/>
          <p:cNvSpPr txBox="1"/>
          <p:nvPr/>
        </p:nvSpPr>
        <p:spPr>
          <a:xfrm>
            <a:off x="6519672" y="312816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Nebraska</a:t>
            </a:r>
          </a:p>
        </p:txBody>
      </p:sp>
      <p:sp>
        <p:nvSpPr>
          <p:cNvPr id="166" name="TextBox 59"/>
          <p:cNvSpPr txBox="1"/>
          <p:nvPr/>
        </p:nvSpPr>
        <p:spPr>
          <a:xfrm>
            <a:off x="8522208" y="312816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55.0</a:t>
            </a:r>
          </a:p>
        </p:txBody>
      </p:sp>
      <p:sp>
        <p:nvSpPr>
          <p:cNvPr id="167" name="TextBox 58"/>
          <p:cNvSpPr txBox="1"/>
          <p:nvPr/>
        </p:nvSpPr>
        <p:spPr>
          <a:xfrm>
            <a:off x="6519672" y="330464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Delaware</a:t>
            </a:r>
          </a:p>
        </p:txBody>
      </p:sp>
      <p:sp>
        <p:nvSpPr>
          <p:cNvPr id="168" name="TextBox 59"/>
          <p:cNvSpPr txBox="1"/>
          <p:nvPr/>
        </p:nvSpPr>
        <p:spPr>
          <a:xfrm>
            <a:off x="8522208" y="330464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54.5</a:t>
            </a:r>
          </a:p>
        </p:txBody>
      </p:sp>
      <p:sp>
        <p:nvSpPr>
          <p:cNvPr id="169" name="TextBox 58"/>
          <p:cNvSpPr txBox="1"/>
          <p:nvPr/>
        </p:nvSpPr>
        <p:spPr>
          <a:xfrm>
            <a:off x="6519672" y="348112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Georgia</a:t>
            </a:r>
          </a:p>
        </p:txBody>
      </p:sp>
      <p:sp>
        <p:nvSpPr>
          <p:cNvPr id="170" name="TextBox 59"/>
          <p:cNvSpPr txBox="1"/>
          <p:nvPr/>
        </p:nvSpPr>
        <p:spPr>
          <a:xfrm>
            <a:off x="8522208" y="348112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54.0</a:t>
            </a:r>
          </a:p>
        </p:txBody>
      </p:sp>
      <p:sp>
        <p:nvSpPr>
          <p:cNvPr id="171" name="TextBox 58"/>
          <p:cNvSpPr txBox="1"/>
          <p:nvPr/>
        </p:nvSpPr>
        <p:spPr>
          <a:xfrm>
            <a:off x="6519672" y="365760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Wisconsin</a:t>
            </a:r>
          </a:p>
        </p:txBody>
      </p:sp>
      <p:sp>
        <p:nvSpPr>
          <p:cNvPr id="172" name="TextBox 59"/>
          <p:cNvSpPr txBox="1"/>
          <p:nvPr/>
        </p:nvSpPr>
        <p:spPr>
          <a:xfrm>
            <a:off x="8522208" y="365760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53.5</a:t>
            </a:r>
          </a:p>
        </p:txBody>
      </p:sp>
      <p:sp>
        <p:nvSpPr>
          <p:cNvPr id="173" name="TextBox 58"/>
          <p:cNvSpPr txBox="1"/>
          <p:nvPr/>
        </p:nvSpPr>
        <p:spPr>
          <a:xfrm>
            <a:off x="6519672" y="383407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Ohio</a:t>
            </a:r>
          </a:p>
        </p:txBody>
      </p:sp>
      <p:sp>
        <p:nvSpPr>
          <p:cNvPr id="174" name="TextBox 59"/>
          <p:cNvSpPr txBox="1"/>
          <p:nvPr/>
        </p:nvSpPr>
        <p:spPr>
          <a:xfrm>
            <a:off x="8522208" y="383407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53.0</a:t>
            </a:r>
          </a:p>
        </p:txBody>
      </p:sp>
      <p:sp>
        <p:nvSpPr>
          <p:cNvPr id="175" name="TextBox 58"/>
          <p:cNvSpPr txBox="1"/>
          <p:nvPr/>
        </p:nvSpPr>
        <p:spPr>
          <a:xfrm>
            <a:off x="6519672" y="4010558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Virginia</a:t>
            </a:r>
          </a:p>
        </p:txBody>
      </p:sp>
      <p:sp>
        <p:nvSpPr>
          <p:cNvPr id="176" name="TextBox 59"/>
          <p:cNvSpPr txBox="1"/>
          <p:nvPr/>
        </p:nvSpPr>
        <p:spPr>
          <a:xfrm>
            <a:off x="8522208" y="4010558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51.5</a:t>
            </a:r>
          </a:p>
        </p:txBody>
      </p:sp>
      <p:sp>
        <p:nvSpPr>
          <p:cNvPr id="177" name="TextBox 58"/>
          <p:cNvSpPr txBox="1"/>
          <p:nvPr/>
        </p:nvSpPr>
        <p:spPr>
          <a:xfrm>
            <a:off x="6519672" y="418703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Hawaii</a:t>
            </a:r>
          </a:p>
        </p:txBody>
      </p:sp>
      <p:sp>
        <p:nvSpPr>
          <p:cNvPr id="178" name="TextBox 59"/>
          <p:cNvSpPr txBox="1"/>
          <p:nvPr/>
        </p:nvSpPr>
        <p:spPr>
          <a:xfrm>
            <a:off x="8522208" y="418703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79" name="TextBox 58"/>
          <p:cNvSpPr txBox="1"/>
          <p:nvPr/>
        </p:nvSpPr>
        <p:spPr>
          <a:xfrm>
            <a:off x="6519672" y="436351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Maine</a:t>
            </a:r>
          </a:p>
        </p:txBody>
      </p:sp>
      <p:sp>
        <p:nvSpPr>
          <p:cNvPr id="180" name="TextBox 59"/>
          <p:cNvSpPr txBox="1"/>
          <p:nvPr/>
        </p:nvSpPr>
        <p:spPr>
          <a:xfrm>
            <a:off x="8522208" y="436351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1" name="TextBox 58"/>
          <p:cNvSpPr txBox="1"/>
          <p:nvPr/>
        </p:nvSpPr>
        <p:spPr>
          <a:xfrm>
            <a:off x="6519672" y="453999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Maryland</a:t>
            </a:r>
          </a:p>
        </p:txBody>
      </p:sp>
      <p:sp>
        <p:nvSpPr>
          <p:cNvPr id="182" name="TextBox 59"/>
          <p:cNvSpPr txBox="1"/>
          <p:nvPr/>
        </p:nvSpPr>
        <p:spPr>
          <a:xfrm>
            <a:off x="8522208" y="453999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3" name="TextBox 58"/>
          <p:cNvSpPr txBox="1"/>
          <p:nvPr/>
        </p:nvSpPr>
        <p:spPr>
          <a:xfrm>
            <a:off x="6519672" y="471647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Kentucky</a:t>
            </a:r>
          </a:p>
        </p:txBody>
      </p:sp>
      <p:sp>
        <p:nvSpPr>
          <p:cNvPr id="184" name="TextBox 59"/>
          <p:cNvSpPr txBox="1"/>
          <p:nvPr/>
        </p:nvSpPr>
        <p:spPr>
          <a:xfrm>
            <a:off x="8522208" y="471647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49.5</a:t>
            </a:r>
          </a:p>
        </p:txBody>
      </p:sp>
      <p:sp>
        <p:nvSpPr>
          <p:cNvPr id="185" name="TextBox 58"/>
          <p:cNvSpPr txBox="1"/>
          <p:nvPr/>
        </p:nvSpPr>
        <p:spPr>
          <a:xfrm>
            <a:off x="6519672" y="489295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Massachusetts</a:t>
            </a:r>
          </a:p>
        </p:txBody>
      </p:sp>
      <p:sp>
        <p:nvSpPr>
          <p:cNvPr id="186" name="TextBox 59"/>
          <p:cNvSpPr txBox="1"/>
          <p:nvPr/>
        </p:nvSpPr>
        <p:spPr>
          <a:xfrm>
            <a:off x="8522208" y="489295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48.5</a:t>
            </a:r>
          </a:p>
        </p:txBody>
      </p:sp>
      <p:sp>
        <p:nvSpPr>
          <p:cNvPr id="187" name="TextBox 58"/>
          <p:cNvSpPr txBox="1"/>
          <p:nvPr/>
        </p:nvSpPr>
        <p:spPr>
          <a:xfrm>
            <a:off x="6519672" y="506943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Arizona</a:t>
            </a:r>
          </a:p>
        </p:txBody>
      </p:sp>
      <p:sp>
        <p:nvSpPr>
          <p:cNvPr id="188" name="TextBox 59"/>
          <p:cNvSpPr txBox="1"/>
          <p:nvPr/>
        </p:nvSpPr>
        <p:spPr>
          <a:xfrm>
            <a:off x="8522208" y="506943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47.5</a:t>
            </a:r>
          </a:p>
        </p:txBody>
      </p:sp>
      <p:sp>
        <p:nvSpPr>
          <p:cNvPr id="189" name="TextBox 58"/>
          <p:cNvSpPr txBox="1"/>
          <p:nvPr/>
        </p:nvSpPr>
        <p:spPr>
          <a:xfrm>
            <a:off x="6519672" y="524591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North Carolina</a:t>
            </a:r>
          </a:p>
        </p:txBody>
      </p:sp>
      <p:sp>
        <p:nvSpPr>
          <p:cNvPr id="190" name="TextBox 59"/>
          <p:cNvSpPr txBox="1"/>
          <p:nvPr/>
        </p:nvSpPr>
        <p:spPr>
          <a:xfrm>
            <a:off x="8522208" y="524591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47.5</a:t>
            </a:r>
          </a:p>
        </p:txBody>
      </p:sp>
      <p:sp>
        <p:nvSpPr>
          <p:cNvPr id="191" name="TextBox 58"/>
          <p:cNvSpPr txBox="1"/>
          <p:nvPr/>
        </p:nvSpPr>
        <p:spPr>
          <a:xfrm>
            <a:off x="6519672" y="542239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Colorado</a:t>
            </a:r>
          </a:p>
        </p:txBody>
      </p:sp>
      <p:sp>
        <p:nvSpPr>
          <p:cNvPr id="192" name="TextBox 59"/>
          <p:cNvSpPr txBox="1"/>
          <p:nvPr/>
        </p:nvSpPr>
        <p:spPr>
          <a:xfrm>
            <a:off x="8522208" y="542239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45.0</a:t>
            </a:r>
          </a:p>
        </p:txBody>
      </p:sp>
      <p:sp>
        <p:nvSpPr>
          <p:cNvPr id="193" name="TextBox 58"/>
          <p:cNvSpPr txBox="1"/>
          <p:nvPr/>
        </p:nvSpPr>
        <p:spPr>
          <a:xfrm>
            <a:off x="6519672" y="559887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Illinois</a:t>
            </a:r>
          </a:p>
        </p:txBody>
      </p:sp>
      <p:sp>
        <p:nvSpPr>
          <p:cNvPr id="194" name="TextBox 59"/>
          <p:cNvSpPr txBox="1"/>
          <p:nvPr/>
        </p:nvSpPr>
        <p:spPr>
          <a:xfrm>
            <a:off x="8522208" y="559887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45.0</a:t>
            </a:r>
          </a:p>
        </p:txBody>
      </p:sp>
      <p:sp>
        <p:nvSpPr>
          <p:cNvPr id="195" name="TextBox 58"/>
          <p:cNvSpPr txBox="1"/>
          <p:nvPr/>
        </p:nvSpPr>
        <p:spPr>
          <a:xfrm>
            <a:off x="6519672" y="577535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Washington</a:t>
            </a:r>
          </a:p>
        </p:txBody>
      </p:sp>
      <p:sp>
        <p:nvSpPr>
          <p:cNvPr id="196" name="TextBox 59"/>
          <p:cNvSpPr txBox="1"/>
          <p:nvPr/>
        </p:nvSpPr>
        <p:spPr>
          <a:xfrm>
            <a:off x="8522208" y="577535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42.5</a:t>
            </a:r>
          </a:p>
        </p:txBody>
      </p:sp>
      <p:sp>
        <p:nvSpPr>
          <p:cNvPr id="197" name="TextBox 58"/>
          <p:cNvSpPr txBox="1"/>
          <p:nvPr/>
        </p:nvSpPr>
        <p:spPr>
          <a:xfrm>
            <a:off x="6519672" y="595182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Pennsylvania</a:t>
            </a:r>
          </a:p>
        </p:txBody>
      </p:sp>
      <p:sp>
        <p:nvSpPr>
          <p:cNvPr id="198" name="TextBox 59"/>
          <p:cNvSpPr txBox="1"/>
          <p:nvPr/>
        </p:nvSpPr>
        <p:spPr>
          <a:xfrm>
            <a:off x="8522208" y="595182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40.5</a:t>
            </a:r>
          </a:p>
        </p:txBody>
      </p:sp>
      <p:sp>
        <p:nvSpPr>
          <p:cNvPr id="199" name="TextBox 108"/>
          <p:cNvSpPr txBox="1"/>
          <p:nvPr/>
        </p:nvSpPr>
        <p:spPr>
          <a:xfrm>
            <a:off x="9464040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York</a:t>
            </a:r>
          </a:p>
        </p:txBody>
      </p:sp>
      <p:sp>
        <p:nvSpPr>
          <p:cNvPr id="200" name="TextBox 109"/>
          <p:cNvSpPr txBox="1"/>
          <p:nvPr/>
        </p:nvSpPr>
        <p:spPr>
          <a:xfrm>
            <a:off x="11466576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38.5</a:t>
            </a:r>
          </a:p>
        </p:txBody>
      </p:sp>
      <p:sp>
        <p:nvSpPr>
          <p:cNvPr id="201" name="TextBox 108"/>
          <p:cNvSpPr txBox="1"/>
          <p:nvPr/>
        </p:nvSpPr>
        <p:spPr>
          <a:xfrm>
            <a:off x="9464040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Jersey</a:t>
            </a:r>
          </a:p>
        </p:txBody>
      </p:sp>
      <p:sp>
        <p:nvSpPr>
          <p:cNvPr id="202" name="TextBox 109"/>
          <p:cNvSpPr txBox="1"/>
          <p:nvPr/>
        </p:nvSpPr>
        <p:spPr>
          <a:xfrm>
            <a:off x="11466576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38.0</a:t>
            </a:r>
          </a:p>
        </p:txBody>
      </p:sp>
      <p:sp>
        <p:nvSpPr>
          <p:cNvPr id="203" name="TextBox 108"/>
          <p:cNvSpPr txBox="1"/>
          <p:nvPr/>
        </p:nvSpPr>
        <p:spPr>
          <a:xfrm>
            <a:off x="9464040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Oregon</a:t>
            </a:r>
          </a:p>
        </p:txBody>
      </p:sp>
      <p:sp>
        <p:nvSpPr>
          <p:cNvPr id="204" name="TextBox 109"/>
          <p:cNvSpPr txBox="1"/>
          <p:nvPr/>
        </p:nvSpPr>
        <p:spPr>
          <a:xfrm>
            <a:off x="11466576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36.5</a:t>
            </a:r>
          </a:p>
        </p:txBody>
      </p:sp>
      <p:sp>
        <p:nvSpPr>
          <p:cNvPr id="205" name="TextBox 108"/>
          <p:cNvSpPr txBox="1"/>
          <p:nvPr/>
        </p:nvSpPr>
        <p:spPr>
          <a:xfrm>
            <a:off x="9464040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California</a:t>
            </a:r>
          </a:p>
        </p:txBody>
      </p:sp>
      <p:sp>
        <p:nvSpPr>
          <p:cNvPr id="206" name="TextBox 109"/>
          <p:cNvSpPr txBox="1"/>
          <p:nvPr/>
        </p:nvSpPr>
        <p:spPr>
          <a:xfrm>
            <a:off x="11466576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36.0</a:t>
            </a:r>
          </a:p>
        </p:txBody>
      </p:sp>
      <p:sp>
        <p:nvSpPr>
          <p:cNvPr id="207" name="TextBox 108"/>
          <p:cNvSpPr txBox="1"/>
          <p:nvPr/>
        </p:nvSpPr>
        <p:spPr>
          <a:xfrm>
            <a:off x="9464040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Alabama</a:t>
            </a:r>
          </a:p>
        </p:txBody>
      </p:sp>
      <p:sp>
        <p:nvSpPr>
          <p:cNvPr id="208" name="TextBox 109"/>
          <p:cNvSpPr txBox="1"/>
          <p:nvPr/>
        </p:nvSpPr>
        <p:spPr>
          <a:xfrm>
            <a:off x="11466576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20.0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SCORING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Four dimensions; one weighted policy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362456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89888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Speed to power, interconnection, tariffs and supply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95728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14600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551176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Water sourcing, cooling requirements and permits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57016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75888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85032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12464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Tax incentives, government posture, entitlements and restrictions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18304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37176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46320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873752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Community opposition, contested projects and development precedent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ALABAMA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Low-regulation state with favorable incentives, but local moratoria and utility requirements are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20.0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Supportive posture and no statewide SUT, but fragmented grid and infrastructure constraints dominate.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ARIZONA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Three-year incentive moratorium, new large-load authority, and growing local restrictions materially weaken the market.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 construct and state support; local pushback is emerging and source coverage is limited.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incentive, restrictive environmental policy, and accelerating local bans/moratoria.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COLORADO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data-center SUT incentive and growing local zoning/moratorium activity; 2026 incentive legislation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CONNECTICUT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environment is mixed; attempted closure of the incentive program signals weakening political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DELAWARE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New large-load tariff law shifts infrastructure costs and long-term obligations to large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HB 233 signed; large-load tariff now required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FLORIDA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preserves local authority while local moratoria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GEORGIA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tax incentive is offset by adverse power terms and exceptionally broad local opposition.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HAWAII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Policy scrutiny is limited today, but isolated grids create a structurally difficult large-load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IDAHO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 and workable power backdrop remain attractive, while water and legislative scrutiny are increasing.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ILLINOIS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processing is paused and the governor has outlined a broad restrictive framework; local action is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INDIANA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Long-duration incentives remain attractive, but restrictive power terms and widespread local moratoria create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IOWA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framework remains, but local moratoria have proliferated across more than a dozen counties.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 and supportive state posture are offset by strong local opposition and 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KENTUCKY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Governor-directed ratepayer/environment protections and a growing local moratorium wave create substantial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49.5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2026-494 raises permitting bar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LOUISIANA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incentives, favorable state posture, and generally permissive local conditions remain a leading policy combination.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removed data centers from incentive programs and local moratoria expanded after the statewide moratorium veto.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MARYLAND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failed, but incentive restrictions and significant county-level pauses create a challenging local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MASSACHUSETTS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paused applications while developing stronger ratepayer, clean-energy, environmental, and community protections.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MICHIGAN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Incentives remain protected by the governor, but repeal and moratorium packages show meaningful legislative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MINNESOTA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eliminated and multiple local moratoria are active despite statewide moratorium bills failing.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MISSISSIPPI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Limited adverse activity in the provided materials; current tax and local environment appear comparatively 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MISSOURI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Innovation-zone incentives now exclude data centers and restrictive rural siting proposals indicate rising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MONTANA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and supportive BTM posture remain attractive, with emerging local opposition and tariff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NEBRASKA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 ended access to ImagiNE Nebraska incentives and launched a resource-impact task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ends data-center access to ImagiNE Nebraska incentives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NEVADA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Meaningful abatements remain, but Reno moratorium and election-driven scrutiny increase uncertainty.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HAMPSHIRE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 and no major current restriction is identified; incentive effort also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JERSEY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Tax credits were eliminated, a strict large-load framework was enacted, and local bans/restrictions are widespread.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signed the End Data Center Tax Credits 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MEXICO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microgrid flexibility is strong, but a statewide moratorium and microgrid restrictions are credible 2027 risks.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Statewide moratorium proposal expected in 2027 session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YORK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environmental-permit moratorium is in force for hyperscale projects and further tax/regulatory restrictions are expected.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62 creates one-year hyperscale permitting moratorium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repealed and more than 30 local jurisdictions have enacted moratoria or bans.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incentives, supportive leadership and BTM using local gas remain attractive; interim study is a watch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OHIO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Permissive BTM is offset by incentive uncertainty, restrictive tariff treatment and the nation’s densest local restriction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OKLAHOMA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Longstanding incentives remain, but new ratepayer-protection and groundwater/cooling rules materially tighten development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OREGON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Highly adverse power tariff, paused property-tax incentives, difficult entitlements and restrictive trajectory.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Moratorium proposal and incentive framework return to legislature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PENNSYLVANIA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Binding GRID requirements now condition permitting and incentives and materially increase infrastructure obligations.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2026-05 makes GRID requirements binding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RHODE ISLAND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Proposed 30-year incentive did not advance; one local outright ban is identified, leaving a mixed but not broadly restrictive picture.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Multiple restrictive proposals failed; current statewide environment remains relatively open with some local moratorium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2026 law codified full-cost and water protections while preserving local control; incentive and moratorium bills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TENNESSEE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State-level environment is less defined, but local moratoria and restrictive zoning have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TEXAS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current tax and local-development advantages remain, but state intervention has sharply increased power and forward policy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ERCOT interconnection audit halts advancing connections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Incentive repeal and new operating guardrails expected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UTAH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BTM remains favorable, but incentive restrictions, water reporting and the governor’s higher-bar framework point to tighter 2027 policy.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VERMONT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Moratorium and gross-receipts financing proposals failed or were vetoed, leaving current policy less restrictive than proposals suggest.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Mature market precedent is offset by higher power cost allocation, loss of by-right pathways and new tax/environmental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SCC assigns dedicated transmission costs to large-load data centers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Joint Subcommittee tax-policy recommendations due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WASHINGTON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Clean-energy constraints, narrowed tax benefits and multiple local pauses create a difficult and worsening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WEST 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leadership prioritizes data-center attraction with supportive entitlement and BTM posture; several additional incentives were proposed.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WISCONSIN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incentives remain, but a punitive large-load tariff and rapid growth in local moratoria materially increase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WYOMING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exemption, strong BTM flexibility and receptive development conditions remain attractive; 2027 recommendations create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Policy recommendations from Governor-directed review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methodology, policy developments and county-level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05840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600" b="1">
                <a:solidFill>
                  <a:srgbClr val="173B73"/>
                </a:solidFill>
                <a:latin typeface="Aptos ExtraBold"/>
              </a:defRPr>
            </a:pPr>
            <a:r>
              <a:rPr/>
              <a:t>SUPPORTING POLICY INTELLIGENCE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Weighted overall score = 20 × sum of dimension scores multiplied by weights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08760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67712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50592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50592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09544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92424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392424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51376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334256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Dimension scores: 1.0–5.0. Trend, Forward Policy Risk are reported separately.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WHAT'S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policy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27, 2026  |  New Jersey  |  Governor signed the End Data Center Tax Credits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26, 2026  |  Delaware  |  HB 233 signed; large-load tariff now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18, 2026  |  Pennsylvania  |  Executive Order 2026-05 makes GRID requirements binding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06, 2026  |  Kentucky  |  Executive Order 2026-494 raises permitting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03, 2026  |  Texas  |  ERCOT interconnection audit halts advancing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31, 2026  |  Virginia  |  SCC assigns dedicated transmission costs to large-load data centers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21, 2026  |  Nebraska  |  Governor ends data-center access to ImagiNE Nebraska incentives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14, 2026  |  New York  |  Executive Order 62 creates one-year hyperscale permitting moratorium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FORWARD POLICY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Future developments and catalysts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Virginia  |  Joint Subcommittee tax-policy recommendations due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New Mexico  |  Statewide moratorium proposal expected in 2027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Texas  |  Incentive repeal and new operating guardrails 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Wyoming  |  Policy recommendations from Governor-directed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Oregon  |  Moratorium proposal and incentive framework return to legislature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COUNTY-LEVEL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local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California  |  Los Angeles County  |  Tier 1 — Established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Virginia  |  Loudoun County  |  Tier 1 — 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Arizona  |  Maricopa County  |  Tier 1 — 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Dallas County  |  Tier 1 — Established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Tarrant County  |  Tier 1 — Established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Douglas County  |  Tier 1 — Established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Fulton County  |  Tier 1 —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Ohio  |  Franklin County  |  Tier 1 — Established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Illinois  |  Cook County  |  Tier 1 — Established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Oregon  |  Washington County  |  Tier 1 — Established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Data Center Policy Landscape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