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ck_cover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8328" y="4197096"/>
            <a:ext cx="937260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Aptos"/>
              </a:defRPr>
            </a:pPr>
            <a:r>
              <a:rPr/>
              <a:t>U.S. DATA CENTER POLICY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5596128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5291"/>
                </a:solidFill>
                <a:latin typeface="Aptos"/>
              </a:defRPr>
            </a:pPr>
            <a:r>
              <a:rPr/>
              <a:t>OCTOBER 2026  |  50-STATE POLICY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Current state policy environment; trend and forward risk assessed separately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2624328" cy="141732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10512"/>
            <a:ext cx="21031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100" b="1">
                <a:solidFill>
                  <a:srgbClr val="173B73"/>
                </a:solidFill>
                <a:latin typeface="Aptos ExtraBold"/>
              </a:defRPr>
            </a:pPr>
            <a:r>
              <a:rPr/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22860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526F8F"/>
                </a:solidFill>
                <a:latin typeface="Aptos"/>
              </a:defRPr>
            </a:pPr>
            <a:r>
              <a:rPr/>
              <a:t>STATES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600200"/>
            <a:ext cx="2624328" cy="141732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810512"/>
            <a:ext cx="21031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100" b="1">
                <a:solidFill>
                  <a:srgbClr val="173B73"/>
                </a:solidFill>
                <a:latin typeface="Aptos ExtraBold"/>
              </a:defRPr>
            </a:pPr>
            <a:r>
              <a:rPr/>
              <a:t>59.1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14600"/>
            <a:ext cx="22860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526F8F"/>
                </a:solidFill>
                <a:latin typeface="Aptos"/>
              </a:defRPr>
            </a:pPr>
            <a:r>
              <a:rPr/>
              <a:t>AVERAGE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00200"/>
            <a:ext cx="2624328" cy="141732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10512"/>
            <a:ext cx="21031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100" b="1">
                <a:solidFill>
                  <a:srgbClr val="173B73"/>
                </a:solidFill>
                <a:latin typeface="Aptos ExtraBold"/>
              </a:defRPr>
            </a:pPr>
            <a:r>
              <a:rPr/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14600"/>
            <a:ext cx="22860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526F8F"/>
                </a:solidFill>
                <a:latin typeface="Aptos"/>
              </a:defRPr>
            </a:pPr>
            <a:r>
              <a:rPr/>
              <a:t>FAVORABLE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600200"/>
            <a:ext cx="2624328" cy="141732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39" y="1810512"/>
            <a:ext cx="21031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100" b="1">
                <a:solidFill>
                  <a:srgbClr val="173B73"/>
                </a:solidFill>
                <a:latin typeface="Aptos ExtraBold"/>
              </a:defRPr>
            </a:pPr>
            <a:r>
              <a:rPr/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2514600"/>
            <a:ext cx="22860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526F8F"/>
                </a:solidFill>
                <a:latin typeface="Aptos"/>
              </a:defRPr>
            </a:pPr>
            <a:r>
              <a:rPr/>
              <a:t>HIGH FORWARD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03320"/>
            <a:ext cx="10789920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173B73"/>
                </a:solidFill>
                <a:latin typeface="Aptos"/>
              </a:defRPr>
            </a:pPr>
            <a:r>
              <a:rPr/>
              <a:t>Scores reflect a weighted four-dimension framework. Power and community acceptance remain central to development feasibility.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50-STATE POLICY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States grouped by current policy environment | score shown on a 100-point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1307592"/>
            <a:ext cx="2779776" cy="4983480"/>
          </a:xfrm>
          <a:prstGeom prst="roundRect">
            <a:avLst/>
          </a:prstGeom>
          <a:solidFill>
            <a:srgbClr val="FAFBFC"/>
          </a:solidFill>
          <a:ln w="22860">
            <a:solidFill>
              <a:srgbClr val="318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435607"/>
            <a:ext cx="246888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400" b="1">
                <a:solidFill>
                  <a:srgbClr val="318159"/>
                </a:solidFill>
                <a:latin typeface="Aptos Display"/>
              </a:defRPr>
            </a:pPr>
            <a:r>
              <a:t>FAVORABLE  (4)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89280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Wyoming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189280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88.5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06928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Louisiana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06928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87.5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24576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North Dakota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224576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82.5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2422245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West Virginia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422245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82.5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38144" y="1307592"/>
            <a:ext cx="2779776" cy="4983480"/>
          </a:xfrm>
          <a:prstGeom prst="roundRect">
            <a:avLst/>
          </a:prstGeom>
          <a:solidFill>
            <a:srgbClr val="FAFBFC"/>
          </a:solidFill>
          <a:ln w="22860">
            <a:solidFill>
              <a:srgbClr val="B68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1435607"/>
            <a:ext cx="246888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400" b="1">
                <a:solidFill>
                  <a:srgbClr val="B68F2B"/>
                </a:solidFill>
                <a:latin typeface="Aptos Display"/>
              </a:defRPr>
            </a:pPr>
            <a:r>
              <a:t>MODERATE  (18)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189280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Arkansas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189280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76.5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206928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Mississippi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06928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76.5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5304" y="224576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Montana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24576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75.0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2422245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Idaho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422245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74.5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5304" y="2598724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Alabama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2598724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72.5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5304" y="2775204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South Carolina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2775204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71.5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951683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Kansas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951683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69.0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5304" y="3128162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New Hampshire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128162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69.0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5304" y="3304641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Utah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304641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68.0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5304" y="3481120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New Mexico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3481120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67.0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75304" y="3657600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Iowa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3657600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66.5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75304" y="3834079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Missouri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3834079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66.5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75304" y="4010558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Texas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010558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66.5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75304" y="418703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Vermont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418703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66.5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75304" y="436351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Rhode Island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77840" y="436351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64.0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75304" y="453999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Michigan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53999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60.0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75304" y="4716475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Nevada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77840" y="4716475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60.0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75304" y="4892954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Tennessee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4892954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60.0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82512" y="1307592"/>
            <a:ext cx="2779776" cy="4983480"/>
          </a:xfrm>
          <a:prstGeom prst="roundRect">
            <a:avLst/>
          </a:prstGeom>
          <a:solidFill>
            <a:srgbClr val="FAFBFC"/>
          </a:solidFill>
          <a:ln w="22860">
            <a:solidFill>
              <a:srgbClr val="C37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37960" y="1435607"/>
            <a:ext cx="246888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400" b="1">
                <a:solidFill>
                  <a:srgbClr val="C37434"/>
                </a:solidFill>
                <a:latin typeface="Aptos Display"/>
              </a:defRPr>
            </a:pPr>
            <a:r>
              <a:t>CHALLENGING  (24)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9672" y="189280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Alaska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22208" y="189280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58.5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19672" y="206928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Florida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22208" y="206928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58.5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9672" y="224576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Connecticut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22208" y="224576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57.5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19672" y="2422245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Indiana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22208" y="2422245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57.0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9672" y="2598724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Oklahoma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22208" y="2598724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56.0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19672" y="2775204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South Dakota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22208" y="2775204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56.0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19672" y="2951683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Minnesota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22208" y="2951683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55.0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9672" y="3128162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Nebraska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22208" y="3128162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55.0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19672" y="3304641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Delaware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22208" y="3304641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54.5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19672" y="3481120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Georgia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22208" y="3481120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54.0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19672" y="3657600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Wisconsin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22208" y="3657600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53.5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19672" y="3834079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Ohio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22208" y="3834079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53.0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19672" y="4010558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Virginia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22208" y="4010558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51.5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19672" y="418703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Hawaii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22208" y="418703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50.0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19672" y="436351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Maine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22208" y="436351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50.0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19672" y="453999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Maryland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22208" y="453999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50.0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19672" y="4716475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Kentucky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22208" y="4716475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49.5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19672" y="4892954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Massachusetts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22208" y="4892954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48.5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19672" y="5069433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Arizona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22208" y="5069433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47.5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19672" y="5245912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North Carolina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22208" y="5245912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47.5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19672" y="5422392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Colorado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522208" y="5422392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45.0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19672" y="5598871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Illinois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22208" y="5598871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45.0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19672" y="5775350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Washington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22208" y="5775350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42.5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19672" y="5951829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Pennsylvania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22208" y="5951829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40.5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326880" y="1307592"/>
            <a:ext cx="2779776" cy="4983480"/>
          </a:xfrm>
          <a:prstGeom prst="roundRect">
            <a:avLst/>
          </a:prstGeom>
          <a:solidFill>
            <a:srgbClr val="FAFBFC"/>
          </a:solidFill>
          <a:ln w="22860">
            <a:solidFill>
              <a:srgbClr val="A04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482328" y="1435607"/>
            <a:ext cx="246888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400" b="1">
                <a:solidFill>
                  <a:srgbClr val="A04B4E"/>
                </a:solidFill>
                <a:latin typeface="Aptos Display"/>
              </a:defRPr>
            </a:pPr>
            <a:r>
              <a:t>RESTRICTIVE  (4)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64040" y="189280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New York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466576" y="189280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38.5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464040" y="2069287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New Jersey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466576" y="2069287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38.0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4040" y="2245766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Oregon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466576" y="2245766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36.5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464040" y="2422245"/>
            <a:ext cx="2002536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10" b="0">
                <a:solidFill>
                  <a:srgbClr val="233347"/>
                </a:solidFill>
                <a:latin typeface="Aptos"/>
              </a:defRPr>
            </a:pPr>
            <a:r>
              <a:t>California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466576" y="2422245"/>
            <a:ext cx="484632" cy="17373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defRPr sz="1010" b="1">
                <a:solidFill>
                  <a:srgbClr val="233347"/>
                </a:solidFill>
                <a:latin typeface="Aptos Display"/>
              </a:defRPr>
            </a:pPr>
            <a:r>
              <a:t>36.0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SCORING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Four dimensions; one weighted policy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10881360" cy="93268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0233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362456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389888"/>
            <a:ext cx="5303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173B73"/>
                </a:solidFill>
                <a:latin typeface="Aptos"/>
              </a:defRPr>
            </a:pPr>
            <a:r>
              <a:rPr/>
              <a:t>Speed to power, interconnection, tariffs and supply options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95728"/>
            <a:ext cx="10881360" cy="93268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14600"/>
            <a:ext cx="40233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523744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551176"/>
            <a:ext cx="5303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173B73"/>
                </a:solidFill>
                <a:latin typeface="Aptos"/>
              </a:defRPr>
            </a:pPr>
            <a:r>
              <a:rPr/>
              <a:t>Water sourcing, cooling requirements and permits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57016"/>
            <a:ext cx="10881360" cy="93268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75888"/>
            <a:ext cx="40233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685032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12464"/>
            <a:ext cx="5303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173B73"/>
                </a:solidFill>
                <a:latin typeface="Aptos"/>
              </a:defRPr>
            </a:pPr>
            <a:r>
              <a:rPr/>
              <a:t>Tax incentives, government posture, entitlements and restrictions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18304"/>
            <a:ext cx="10881360" cy="93268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37176"/>
            <a:ext cx="40233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846320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873752"/>
            <a:ext cx="5303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173B73"/>
                </a:solidFill>
                <a:latin typeface="Aptos"/>
              </a:defRPr>
            </a:pPr>
            <a:r>
              <a:rPr/>
              <a:t>Community opposition, contested projects and development precedent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ALABAMA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Low-regulation state with favorable incentives, but local moratoria and utility requirements are rising.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72.5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ALASKA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Supportive posture and no statewide SUT, but fragmented grid and infrastructure constraints dominate.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58.5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ARIZONA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Three-year incentive moratorium, new large-load authority, and growing local restrictions materially weaken the market.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47.5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ARKANSAS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Favorable incentive construct and state support; local pushback is emerging and source coverage is limited.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76.5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CALIFORNIA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No statewide SUT incentive, restrictive environmental policy, and accelerating local bans/moratoria.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36.0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Restrictive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COLORADO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No data-center SUT incentive and growing local zoning/moratorium activity; 2026 incentive legislation failed.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45.0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CONNECTICUT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Current environment is mixed; attempted closure of the incentive program signals weakening political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57.5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DELAWARE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New large-load tariff law shifts infrastructure costs and long-term obligations to large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54.5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STACK_GENERATED_EVENT"/>
          <p:cNvSpPr txBox="1"/>
          <p:nvPr/>
        </p:nvSpPr>
        <p:spPr>
          <a:xfrm>
            <a:off x="868680" y="4562856"/>
            <a:ext cx="5897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23374E"/>
                </a:solidFill>
                <a:latin typeface="Aptos"/>
              </a:defRPr>
            </a:pPr>
            <a:r>
              <a:t>• HB 233 signed; large-load tariff now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FLORIDA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 preserves local authority while local moratoria spread across major jurisdictions.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58.5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GEORGIA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Strong tax incentive is offset by adverse power terms and exceptionally broad local opposition.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54.0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HAWAII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Policy scrutiny is limited today, but isolated grids create a structurally difficult large-load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IDAHO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Full SUT exemption and workable power backdrop remain attractive, while water and legislative scrutiny are increasing.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74.5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ILLINOIS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 incentive processing is paused and the governor has outlined a broad restrictive framework; local action is rising.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45.0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INDIANA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Long-duration incentives remain attractive, but restrictive power terms and widespread local moratoria create execution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57.0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IOWA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 incentive framework remains, but local moratoria have proliferated across more than a dozen counties.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KANSAS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Excellent incentive and supportive state posture are offset by strong local opposition and moratoria.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69.0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5.0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KENTUCKY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Governor-directed ratepayer/environment protections and a growing local moratorium wave create substantial forward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49.5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STACK_GENERATED_EVENT"/>
          <p:cNvSpPr txBox="1"/>
          <p:nvPr/>
        </p:nvSpPr>
        <p:spPr>
          <a:xfrm>
            <a:off x="868680" y="4562856"/>
            <a:ext cx="5897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23374E"/>
                </a:solidFill>
                <a:latin typeface="Aptos"/>
              </a:defRPr>
            </a:pPr>
            <a:r>
              <a:t>• Executive Order 2026-494 raises permitting bar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LOUISIANA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Strong incentives, favorable state posture, and generally permissive local conditions remain a leading policy combination.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87.5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5.0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Favorable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MAINE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 removed data centers from incentive programs and local moratoria expanded after the statewide moratorium veto.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MARYLAND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Statewide moratorium failed, but incentive restrictions and significant county-level pauses create a challenging local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MASSACHUSETTS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 paused applications while developing stronger ratepayer, clean-energy, environmental, and community protections.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48.5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MICHIGAN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Incentives remain protected by the governor, but repeal and moratorium packages show meaningful legislative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MINNESOTA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Electricity SUT exemption was eliminated and multiple local moratoria are active despite statewide moratorium bills failing.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55.0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MISSISSIPPI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Limited adverse activity in the provided materials; current tax and local environment appear comparatively stable.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76.5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MISSOURI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Innovation-zone incentives now exclude data centers and restrictive rural siting proposals indicate rising scrutiny.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MONTANA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No statewide SUT and supportive BTM posture remain attractive, with emerging local opposition and tariff scrutiny.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75.0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NEBRASKA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Governor ended access to ImagiNE Nebraska incentives and launched a resource-impact task force.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55.0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STACK_GENERATED_EVENT"/>
          <p:cNvSpPr txBox="1"/>
          <p:nvPr/>
        </p:nvSpPr>
        <p:spPr>
          <a:xfrm>
            <a:off x="868680" y="4562856"/>
            <a:ext cx="5897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23374E"/>
                </a:solidFill>
                <a:latin typeface="Aptos"/>
              </a:defRPr>
            </a:pPr>
            <a:r>
              <a:t>• Governor ends data-center access to ImagiNE Nebraska incentives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NEVADA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Meaningful abatements remain, but Reno moratorium and election-driven scrutiny increase uncertainty.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NEW HAMPSHIRE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Statewide moratorium failed and no major current restriction is identified; incentive effort also failed.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69.0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NEW JERSEY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Tax credits were eliminated, a strict large-load framework was enacted, and local bans/restrictions are widespread.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38.0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475488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Restrictive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STACK_GENERATED_EVENT"/>
          <p:cNvSpPr txBox="1"/>
          <p:nvPr/>
        </p:nvSpPr>
        <p:spPr>
          <a:xfrm>
            <a:off x="868680" y="4562856"/>
            <a:ext cx="5897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23374E"/>
                </a:solidFill>
                <a:latin typeface="Aptos"/>
              </a:defRPr>
            </a:pPr>
            <a:r>
              <a:t>• Governor signed the End Data Center Tax Credits Act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NEW MEXICO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Current microgrid flexibility is strong, but a statewide moratorium and microgrid restrictions are credible 2027 risks.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67.0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STACK_GENERATED_EVENT"/>
          <p:cNvSpPr txBox="1"/>
          <p:nvPr/>
        </p:nvSpPr>
        <p:spPr>
          <a:xfrm>
            <a:off x="7552944" y="4562856"/>
            <a:ext cx="3611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23374E"/>
                </a:solidFill>
                <a:latin typeface="Aptos"/>
              </a:defRPr>
            </a:pPr>
            <a:r>
              <a:t>• Statewide moratorium proposal expected in 2027 session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NEW YORK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Statewide environmental-permit moratorium is in force for hyperscale projects and further tax/regulatory restrictions are expected.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38.5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Restrictive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STACK_GENERATED_EVENT"/>
          <p:cNvSpPr txBox="1"/>
          <p:nvPr/>
        </p:nvSpPr>
        <p:spPr>
          <a:xfrm>
            <a:off x="868680" y="4562856"/>
            <a:ext cx="5897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23374E"/>
                </a:solidFill>
                <a:latin typeface="Aptos"/>
              </a:defRPr>
            </a:pPr>
            <a:r>
              <a:t>• Executive Order 62 creates one-year hyperscale permitting moratorium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NORTH CAROLINA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Electricity SUT exemption was repealed and more than 30 local jurisdictions have enacted moratoria or bans.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47.5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475488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NORTH DAKOTA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Favorable incentives, supportive leadership and BTM using local gas remain attractive; interim study is a watch item.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82.5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Favorable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OHIO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Permissive BTM is offset by incentive uncertainty, restrictive tariff treatment and the nation’s densest local restriction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53.0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OKLAHOMA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Longstanding incentives remain, but new ratepayer-protection and groundwater/cooling rules materially tighten development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56.0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OREGON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Highly adverse power tariff, paused property-tax incentives, difficult entitlements and restrictive trajectory.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36.5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Restrictive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STACK_GENERATED_EVENT"/>
          <p:cNvSpPr txBox="1"/>
          <p:nvPr/>
        </p:nvSpPr>
        <p:spPr>
          <a:xfrm>
            <a:off x="7552944" y="4562856"/>
            <a:ext cx="3611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23374E"/>
                </a:solidFill>
                <a:latin typeface="Aptos"/>
              </a:defRPr>
            </a:pPr>
            <a:r>
              <a:t>• Moratorium proposal and incentive framework return to legislature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PENNSYLVANIA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Binding GRID requirements now condition permitting and incentives and materially increase infrastructure obligations.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40.5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STACK_GENERATED_EVENT"/>
          <p:cNvSpPr txBox="1"/>
          <p:nvPr/>
        </p:nvSpPr>
        <p:spPr>
          <a:xfrm>
            <a:off x="868680" y="4562856"/>
            <a:ext cx="5897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23374E"/>
                </a:solidFill>
                <a:latin typeface="Aptos"/>
              </a:defRPr>
            </a:pPr>
            <a:r>
              <a:t>• Executive Order 2026-05 makes GRID requirements binding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RHODE ISLAND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Proposed 30-year incentive did not advance; one local outright ban is identified, leaving a mixed but not broadly restrictive picture.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64.0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SOUTH CAROLINA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Multiple restrictive proposals failed; current statewide environment remains relatively open with some local moratorium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71.5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SOUTH DAKOTA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2026 law codified full-cost and water protections while preserving local control; incentive and moratorium bills failed.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56.0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TENNESSEE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State-level environment is less defined, but local moratoria and restrictive zoning have spread across major jurisdictions.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TEXAS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Strong current tax and local-development advantages remain, but state intervention has sharply increased power and forward policy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STACK_GENERATED_EVENT"/>
          <p:cNvSpPr txBox="1"/>
          <p:nvPr/>
        </p:nvSpPr>
        <p:spPr>
          <a:xfrm>
            <a:off x="868680" y="4562856"/>
            <a:ext cx="5897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23374E"/>
                </a:solidFill>
                <a:latin typeface="Aptos"/>
              </a:defRPr>
            </a:pPr>
            <a:r>
              <a:t>• ERCOT interconnection audit halts advancing connections</a:t>
            </a:r>
          </a:p>
        </p:txBody>
      </p:sp>
      <p:sp>
        <p:nvSpPr>
          <p:cNvPr id="51" name="STACK_GENERATED_EVENT"/>
          <p:cNvSpPr txBox="1"/>
          <p:nvPr/>
        </p:nvSpPr>
        <p:spPr>
          <a:xfrm>
            <a:off x="7552944" y="4562856"/>
            <a:ext cx="3611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23374E"/>
                </a:solidFill>
                <a:latin typeface="Aptos"/>
              </a:defRPr>
            </a:pPr>
            <a:r>
              <a:t>• Incentive repeal and new operating guardrails expected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UTAH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BTM remains favorable, but incentive restrictions, water reporting and the governor’s higher-bar framework point to tighter 2027 policy.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68.0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VERMONT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Moratorium and gross-receipts financing proposals failed or were vetoed, leaving current policy less restrictive than proposals suggest.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66.5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664208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VIRGINIA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Mature market precedent is offset by higher power cost allocation, loss of by-right pathways and new tax/environmental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51.5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3.0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426464" cy="68580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STACK_GENERATED_EVENT"/>
          <p:cNvSpPr txBox="1"/>
          <p:nvPr/>
        </p:nvSpPr>
        <p:spPr>
          <a:xfrm>
            <a:off x="868680" y="4562856"/>
            <a:ext cx="5897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23374E"/>
                </a:solidFill>
                <a:latin typeface="Aptos"/>
              </a:defRPr>
            </a:pPr>
            <a:r>
              <a:t>• SCC assigns dedicated transmission costs to large-load data centers</a:t>
            </a:r>
          </a:p>
        </p:txBody>
      </p:sp>
      <p:sp>
        <p:nvSpPr>
          <p:cNvPr id="51" name="STACK_GENERATED_EVENT"/>
          <p:cNvSpPr txBox="1"/>
          <p:nvPr/>
        </p:nvSpPr>
        <p:spPr>
          <a:xfrm>
            <a:off x="7552944" y="4562856"/>
            <a:ext cx="3611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23374E"/>
                </a:solidFill>
                <a:latin typeface="Aptos"/>
              </a:defRPr>
            </a:pPr>
            <a:r>
              <a:t>• Joint Subcommittee tax-policy recommendations due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WASHINGTON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Clean-energy constraints, narrowed tax benefits and multiple local pauses create a difficult and worsening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42.5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188720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WEST VIRGINIA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State leadership prioritizes data-center attraction with supportive entitlement and BTM posture; several additional incentives were proposed.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82.5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Favorable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Stable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WISCONSIN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Excellent incentives remain, but a punitive large-load tariff and rapid growth in local moratoria materially increase execution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53.5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950976" cy="68580"/>
          </a:xfrm>
          <a:prstGeom prst="roundRect">
            <a:avLst/>
          </a:prstGeom>
          <a:solidFill>
            <a:srgbClr val="E6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713232" cy="68580"/>
          </a:xfrm>
          <a:prstGeom prst="roundRect">
            <a:avLst/>
          </a:prstGeom>
          <a:solidFill>
            <a:srgbClr val="CA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Challenging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Sharply Deteriorating ↓↓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WYOMING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60704"/>
            <a:ext cx="10908792" cy="1042415"/>
          </a:xfrm>
          <a:prstGeom prst="round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179576"/>
            <a:ext cx="2743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POLICY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26464"/>
            <a:ext cx="1014984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/>
              <a:t>Full SUT exemption, strong BTM flexibility and receptive development conditions remain attractive; 2027 recommendations create forward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92608"/>
            <a:ext cx="1024128" cy="658368"/>
          </a:xfrm>
          <a:prstGeom prst="roundRect">
            <a:avLst/>
          </a:prstGeom>
          <a:solidFill>
            <a:srgbClr val="EE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7312" y="356616"/>
            <a:ext cx="950976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B73"/>
                </a:solidFill>
                <a:latin typeface="Aptos ExtraBold"/>
              </a:defRPr>
            </a:pPr>
            <a:r>
              <a:rPr/>
              <a:t>88.5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872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75888" y="3337560"/>
            <a:ext cx="1901952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624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99448" y="2770632"/>
            <a:ext cx="2679192" cy="8412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862072"/>
            <a:ext cx="2103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2862072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100" b="1">
                <a:solidFill>
                  <a:srgbClr val="173B73"/>
                </a:solidFill>
                <a:latin typeface="Aptos"/>
              </a:defRPr>
            </a:pPr>
            <a:r>
              <a:rPr/>
              <a:t>4.5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2377440" cy="68580"/>
          </a:xfrm>
          <a:prstGeom prst="round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3337560"/>
            <a:ext cx="2139696" cy="68580"/>
          </a:xfrm>
          <a:prstGeom prst="roundRect">
            <a:avLst/>
          </a:prstGeom>
          <a:solidFill>
            <a:srgbClr val="389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50208"/>
            <a:ext cx="6473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42631" y="3950208"/>
            <a:ext cx="4187952" cy="2130552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CURRENT POSTURE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Favorable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POLICY TREND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Deteriorating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2167128"/>
            <a:ext cx="370332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30" b="1">
                <a:solidFill>
                  <a:srgbClr val="5F6C7D"/>
                </a:solidFill>
                <a:latin typeface="Aptos Display"/>
              </a:defRPr>
            </a:pPr>
            <a:r>
              <a:t>FORWARD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2386584"/>
            <a:ext cx="370332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 Display"/>
              </a:defRPr>
            </a:pPr>
            <a:r>
              <a:t>Elevated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12394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RECENT DEVELOPMENTS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1239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73B73"/>
                </a:solidFill>
                <a:latin typeface="Aptos"/>
              </a:defRPr>
            </a:pPr>
            <a:r>
              <a:t>FORWARD CATALYSTS</a:t>
            </a:r>
          </a:p>
        </p:txBody>
      </p:sp>
      <p:sp>
        <p:nvSpPr>
          <p:cNvPr id="50" name="STACK_GENERATED_EVENT"/>
          <p:cNvSpPr txBox="1"/>
          <p:nvPr/>
        </p:nvSpPr>
        <p:spPr>
          <a:xfrm>
            <a:off x="7552944" y="4562856"/>
            <a:ext cx="36118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23374E"/>
                </a:solidFill>
                <a:latin typeface="Aptos"/>
              </a:defRPr>
            </a:pPr>
            <a:r>
              <a:t>• Policy recommendations from Governor-directed review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Supporting methodology, policy developments and county-level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00584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600" b="1">
                <a:solidFill>
                  <a:srgbClr val="173B73"/>
                </a:solidFill>
                <a:latin typeface="Aptos ExtraBold"/>
              </a:defRPr>
            </a:pPr>
            <a:r>
              <a:rPr/>
              <a:t>SUPPORTING POLICY INTELLIGENCE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Weighted overall score = 20 × sum of dimension scores multiplied by weights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698480" cy="74980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8229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Power &amp;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508760"/>
            <a:ext cx="11887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35%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67712"/>
            <a:ext cx="10698480" cy="74980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50592"/>
            <a:ext cx="8229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Water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50592"/>
            <a:ext cx="11887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9544"/>
            <a:ext cx="10698480" cy="74980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92424"/>
            <a:ext cx="8229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Policy &amp; Regulatory 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392424"/>
            <a:ext cx="11887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51376"/>
            <a:ext cx="10698480" cy="74980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34256"/>
            <a:ext cx="8229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Community Sentiment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4334256"/>
            <a:ext cx="11887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3B73"/>
                </a:solidFill>
                <a:latin typeface="Aptos"/>
              </a:defRPr>
            </a:pPr>
            <a:r>
              <a:rPr/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Dimension scores: 1.0–5.0. Trend, Forward Policy Risk are reported separately.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WHAT'S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Current policy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188720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Aug 27, 2026  |  New Jersey  |  Governor signed the End Data Center Tax Credits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36776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Aug 26, 2026  |  Delaware  |  HB 233 signed; large-load tariff now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84832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Aug 18, 2026  |  Pennsylvania  |  Executive Order 2026-05 makes GRID requirements binding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32888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Aug 06, 2026  |  Kentucky  |  Executive Order 2026-494 raises permitting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80944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Aug 03, 2026  |  Texas  |  ERCOT interconnection audit halts advancing 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29000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Jul 31, 2026  |  Virginia  |  SCC assigns dedicated transmission costs to large-load data centers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877056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Jul 21, 2026  |  Nebraska  |  Governor ends data-center access to ImagiNE Nebraska incentives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325112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Jul 14, 2026  |  New York  |  Executive Order 62 creates one-year hyperscale permitting moratorium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73168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5221224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FORWARD POLICY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Future developments and catalysts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188720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Virginia  |  Joint Subcommittee tax-policy recommendations 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36776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New Mexico  |  Statewide moratorium proposal expected in 2027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84832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2027-session  |  Texas  |  Incentive repeal and new operating guardrails 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32888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2027-session  |  Wyoming  |  Policy recommendations from Governor-directed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80944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>
                <a:latin typeface="Aptos"/>
              </a:rPr>
              <a:t>2027-session  |  Oregon  |  Moratorium proposal and incentive framework return to legislature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29000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3877056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4325112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3232" y="4773168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5221224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4" y="365760"/>
            <a:ext cx="108813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173B73"/>
                </a:solidFill>
                <a:latin typeface="Aptos ExtraBold"/>
              </a:defRPr>
            </a:pPr>
            <a:r>
              <a:rPr/>
              <a:t>COUNTY-LEVEL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804672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526F8F"/>
                </a:solidFill>
                <a:latin typeface="Aptos"/>
              </a:defRPr>
            </a:pPr>
            <a:r>
              <a:rPr/>
              <a:t>Supporting local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6583680"/>
            <a:ext cx="810589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6611112"/>
            <a:ext cx="3200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CONFIDENTIAL – NOT FOR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0624" y="6611112"/>
            <a:ext cx="1828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FFFFFF"/>
                </a:solidFill>
                <a:latin typeface="Aptos"/>
              </a:defRPr>
            </a:pPr>
            <a:r>
              <a:rPr/>
              <a:t>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188720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California  |  Los Angeles County  |  Tier 1 — 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36776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Virginia  |  Loudoun County  |  Tier 1 — Established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84832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Arizona  |  Maricopa County  |  Tier 1 — Established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32888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Texas  |  Dallas County  |  Tier 1 — Established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80944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Texas  |  Tarrant County  |  Tier 1 — Established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29000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Georgia  |  Douglas County  |  Tier 1 — Established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877056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Georgia  |  Fulton County  |  Tier 1 — Established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325112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Ohio  |  Franklin County  |  Tier 1 — Established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73168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Illinois  |  Cook County  |  Tier 1 — Established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221224"/>
            <a:ext cx="1078992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173B73"/>
                </a:solidFill>
                <a:latin typeface="Aptos"/>
              </a:defRPr>
            </a:pPr>
            <a:r>
              <a:rPr/>
              <a:t>Oregon  |  Washington County  |  Tier 1 — Established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U.S. Data Center Policy Landscape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